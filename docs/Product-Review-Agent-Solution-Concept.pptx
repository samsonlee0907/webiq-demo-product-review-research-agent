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Dashed groups show logical responsibilities, not a VNet or guaranteed network isolation. The FastAPI app invokes Foundry for planning/synthesis and owns governed skill loading. Discovery selects WebIQ Search with a supplied request key or Toolbox web_search without one. The selected inspector is reused for listing and review pages. Azure-hosted operation uses managed identity for Foundry and Blob; worker and WebIQ authentication are separate.</a:t>
            </a:r>
          </a:p>
          <a:p/>
          <a:p>
            <a:r>
              <a:t>Implementation inspected 2026-10-21:</a:t>
            </a:r>
          </a:p>
          <a:p>
            <a:r>
              <a:t>README.md; docs/DEPLOYMENT.md; api/app/pipeline.py; api/app/bat_research.py; api/app/community_exploration.py; api/app/evidence_archive.py; api/app/auth.py</a:t>
            </a:r>
          </a:p>
          <a:p/>
          <a:p>
            <a:r>
              <a:t>Current runtime is the FastAPI portal. The separate hosted-agent entrypoint is a reference scaffold, not the deployed orchestrator. No WorkIQ, M365 delegated identity, per-user data isolation or video-understanding service is claimed. Browser observations and model-generated assessments are distinct. Publisher access and terms still apply.</a:t>
            </a:r>
          </a:p>
          <a:p/>
          <a:p>
            <a:r>
              <a:t>Visual reference: {"filename": "Foundry-WorkIQ-Tool-Blob-Security-Briefing.pptx", "sha256": "9afe56b777a27f269bbe350ccc4dfaf009f1031c3ab2a8ecbf6fb0d6641d98d9", "usage": "Visual conventions only; no source slides, images or tenant content copied."}</a:t>
            </a:r>
          </a:p>
          <a:p/>
          <a:p>
            <a:r>
              <a:t>Azure service icons: Microsoft Azure Public Service Icons V24. Original SVGs and usage terms are retained in docs/assets/azure-icons. PNGs are proportional transparent renders; no cropping, recoloring, flipping or rotation. The hosting icon represents the Container Apps environment, not a Foundry-hosted agent. The general Toolbox icon represents tool brokerage, not a distinct product logo. No Azure product icon is assigned to WebIQ, mixed-inspector groups or abstract workflow stages.</a:t>
            </a:r>
          </a:p>
          <a:p/>
          <a:p>
            <a:r>
              <a:t>Official authoring/vendor references:</a:t>
            </a:r>
          </a:p>
          <a:p>
            <a:r>
              <a:t>Toolbox: https://learn.microsoft.com/en-us/azure/foundry/agents/how-to/tools/toolbox</a:t>
            </a:r>
          </a:p>
          <a:p>
            <a:r>
              <a:t>Blob identity: https://learn.microsoft.com/en-us/azure/storage/blobs/authorize-access-azure-active-directory</a:t>
            </a:r>
          </a:p>
          <a:p>
            <a:r>
              <a:t>Drawing API: https://python-pptx.readthedocs.io/en/latest/user/autoshapes.html</a:t>
            </a:r>
          </a:p>
          <a:p>
            <a:r>
              <a:t>Azure icons: https://learn.microsoft.com/en-us/azure/architecture/icons/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four-stage contract is listing, discovery, optional review inspection and brief. A search-only run still inspects the initial listing. Extra community exploration is available only on browser inspection routes (BAT, Local, VM) and within the configured domain/action/time limits. Review comments are assertions, not authenticated ownership. The output remains advisory; cart approval is a simulation and checkout is blocked.</a:t>
            </a:r>
          </a:p>
          <a:p/>
          <a:p>
            <a:r>
              <a:t>Implementation inspected 2026-10-21:</a:t>
            </a:r>
          </a:p>
          <a:p>
            <a:r>
              <a:t>README.md; docs/DEPLOYMENT.md; api/app/pipeline.py; api/app/bat_research.py; api/app/community_exploration.py; api/app/evidence_archive.py; api/app/auth.py</a:t>
            </a:r>
          </a:p>
          <a:p/>
          <a:p>
            <a:r>
              <a:t>Current runtime is the FastAPI portal. The separate hosted-agent entrypoint is a reference scaffold, not the deployed orchestrator. No WorkIQ, M365 delegated identity, per-user data isolation or video-understanding service is claimed. Browser observations and model-generated assessments are distinct. Publisher access and terms still apply.</a:t>
            </a:r>
          </a:p>
          <a:p/>
          <a:p>
            <a:r>
              <a:t>Visual reference: {"filename": "Foundry-WorkIQ-Tool-Blob-Security-Briefing.pptx", "sha256": "9afe56b777a27f269bbe350ccc4dfaf009f1031c3ab2a8ecbf6fb0d6641d98d9", "usage": "Visual conventions only; no source slides, images or tenant content copied."}</a:t>
            </a:r>
          </a:p>
          <a:p/>
          <a:p>
            <a:r>
              <a:t>Azure service icons: Microsoft Azure Public Service Icons V24. Original SVGs and usage terms are retained in docs/assets/azure-icons. PNGs are proportional transparent renders; no cropping, recoloring, flipping or rotation. The hosting icon represents the Container Apps environment, not a Foundry-hosted agent. The general Toolbox icon represents tool brokerage, not a distinct product logo. No Azure product icon is assigned to WebIQ, mixed-inspector groups or abstract workflow stages.</a:t>
            </a:r>
          </a:p>
          <a:p/>
          <a:p>
            <a:r>
              <a:t>Official authoring/vendor references:</a:t>
            </a:r>
          </a:p>
          <a:p>
            <a:r>
              <a:t>Toolbox: https://learn.microsoft.com/en-us/azure/foundry/agents/how-to/tools/toolbox</a:t>
            </a:r>
          </a:p>
          <a:p>
            <a:r>
              <a:t>Blob identity: https://learn.microsoft.com/en-us/azure/storage/blobs/authorize-access-azure-active-directory</a:t>
            </a:r>
          </a:p>
          <a:p>
            <a:r>
              <a:t>Drawing API: https://python-pptx.readthedocs.io/en/latest/user/autoshapes.html</a:t>
            </a:r>
          </a:p>
          <a:p>
            <a:r>
              <a:t>Azure icons: https://learn.microsoft.com/en-us/azure/architecture/icons/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SSE progress streams throughout the research. Independent evidence is checkpointed during the run; synthesis adds the final generated brief. Follow-up reads retained evidence and does not rerun discovery or the model. The portal serves saved objects through its gate; it does not expose anonymous Blob URLs.</a:t>
            </a:r>
          </a:p>
          <a:p/>
          <a:p>
            <a:r>
              <a:t>Implementation inspected 2026-10-21:</a:t>
            </a:r>
          </a:p>
          <a:p>
            <a:r>
              <a:t>README.md; docs/DEPLOYMENT.md; api/app/pipeline.py; api/app/bat_research.py; api/app/community_exploration.py; api/app/evidence_archive.py; api/app/auth.py</a:t>
            </a:r>
          </a:p>
          <a:p/>
          <a:p>
            <a:r>
              <a:t>Current runtime is the FastAPI portal. The separate hosted-agent entrypoint is a reference scaffold, not the deployed orchestrator. No WorkIQ, M365 delegated identity, per-user data isolation or video-understanding service is claimed. Browser observations and model-generated assessments are distinct. Publisher access and terms still apply.</a:t>
            </a:r>
          </a:p>
          <a:p/>
          <a:p>
            <a:r>
              <a:t>Visual reference: {"filename": "Foundry-WorkIQ-Tool-Blob-Security-Briefing.pptx", "sha256": "9afe56b777a27f269bbe350ccc4dfaf009f1031c3ab2a8ecbf6fb0d6641d98d9", "usage": "Visual conventions only; no source slides, images or tenant content copied."}</a:t>
            </a:r>
          </a:p>
          <a:p/>
          <a:p>
            <a:r>
              <a:t>Azure service icons: Microsoft Azure Public Service Icons V24. Original SVGs and usage terms are retained in docs/assets/azure-icons. PNGs are proportional transparent renders; no cropping, recoloring, flipping or rotation. The hosting icon represents the Container Apps environment, not a Foundry-hosted agent. The general Toolbox icon represents tool brokerage, not a distinct product logo. No Azure product icon is assigned to WebIQ, mixed-inspector groups or abstract workflow stages.</a:t>
            </a:r>
          </a:p>
          <a:p/>
          <a:p>
            <a:r>
              <a:t>Official authoring/vendor references:</a:t>
            </a:r>
          </a:p>
          <a:p>
            <a:r>
              <a:t>Toolbox: https://learn.microsoft.com/en-us/azure/foundry/agents/how-to/tools/toolbox</a:t>
            </a:r>
          </a:p>
          <a:p>
            <a:r>
              <a:t>Blob identity: https://learn.microsoft.com/en-us/azure/storage/blobs/authorize-access-azure-active-directory</a:t>
            </a:r>
          </a:p>
          <a:p>
            <a:r>
              <a:t>Drawing API: https://python-pptx.readthedocs.io/en/latest/user/autoshapes.html</a:t>
            </a:r>
          </a:p>
          <a:p>
            <a:r>
              <a:t>Azure icons: https://learn.microsoft.com/en-us/azure/architecture/icons/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Supplying a WebIQ key selects WebIQ Search; an invalid supplied key does not silently switch to another provider. Without a key, discovery uses the configured Toolbox web_search. WebIQ Browse itself requires a key. The selected inspector is reused for listing and reviews when inspection is enabled. Search-only is the separate inspect_review_pages=false strategy, not an execution_mode. Local and VM require the cloud model; the native VM worker does not require the desktop extension.</a:t>
            </a:r>
          </a:p>
          <a:p/>
          <a:p>
            <a:r>
              <a:t>Implementation inspected 2026-10-21:</a:t>
            </a:r>
          </a:p>
          <a:p>
            <a:r>
              <a:t>README.md; docs/DEPLOYMENT.md; api/app/pipeline.py; api/app/bat_research.py; api/app/community_exploration.py; api/app/evidence_archive.py; api/app/auth.py</a:t>
            </a:r>
          </a:p>
          <a:p/>
          <a:p>
            <a:r>
              <a:t>Current runtime is the FastAPI portal. The separate hosted-agent entrypoint is a reference scaffold, not the deployed orchestrator. No WorkIQ, M365 delegated identity, per-user data isolation or video-understanding service is claimed. Browser observations and model-generated assessments are distinct. Publisher access and terms still apply.</a:t>
            </a:r>
          </a:p>
          <a:p/>
          <a:p>
            <a:r>
              <a:t>Visual reference: {"filename": "Foundry-WorkIQ-Tool-Blob-Security-Briefing.pptx", "sha256": "9afe56b777a27f269bbe350ccc4dfaf009f1031c3ab2a8ecbf6fb0d6641d98d9", "usage": "Visual conventions only; no source slides, images or tenant content copied."}</a:t>
            </a:r>
          </a:p>
          <a:p/>
          <a:p>
            <a:r>
              <a:t>Azure service icons: Microsoft Azure Public Service Icons V24. Original SVGs and usage terms are retained in docs/assets/azure-icons. PNGs are proportional transparent renders; no cropping, recoloring, flipping or rotation. The hosting icon represents the Container Apps environment, not a Foundry-hosted agent. The general Toolbox icon represents tool brokerage, not a distinct product logo. No Azure product icon is assigned to WebIQ, mixed-inspector groups or abstract workflow stages.</a:t>
            </a:r>
          </a:p>
          <a:p/>
          <a:p>
            <a:r>
              <a:t>Official authoring/vendor references:</a:t>
            </a:r>
          </a:p>
          <a:p>
            <a:r>
              <a:t>Toolbox: https://learn.microsoft.com/en-us/azure/foundry/agents/how-to/tools/toolbox</a:t>
            </a:r>
          </a:p>
          <a:p>
            <a:r>
              <a:t>Blob identity: https://learn.microsoft.com/en-us/azure/storage/blobs/authorize-access-azure-active-directory</a:t>
            </a:r>
          </a:p>
          <a:p>
            <a:r>
              <a:t>Drawing API: https://python-pptx.readthedocs.io/en/latest/user/autoshapes.html</a:t>
            </a:r>
          </a:p>
          <a:p>
            <a:r>
              <a:t>Azure icons: https://learn.microsoft.com/en-us/azure/architecture/icons/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WebIQ Search/Browse grounding is active-workflow-only and is not archived. Generated internal attributed work product and independently obtained browser observations/PNGs are separate artifact classes and remain subject to applicable provider and publisher terms. Azure-hosted storage is a private Blob container authorized with the app identity; local development uses an ignored private directory. All passcode holders share view/delete access; the prototype does not implement per-user authorization. Deleting an archive cannot remove already-downloaded ZIPs.</a:t>
            </a:r>
          </a:p>
          <a:p/>
          <a:p>
            <a:r>
              <a:t>Implementation inspected 2026-10-21:</a:t>
            </a:r>
          </a:p>
          <a:p>
            <a:r>
              <a:t>README.md; docs/DEPLOYMENT.md; api/app/pipeline.py; api/app/bat_research.py; api/app/community_exploration.py; api/app/evidence_archive.py; api/app/auth.py</a:t>
            </a:r>
          </a:p>
          <a:p/>
          <a:p>
            <a:r>
              <a:t>Current runtime is the FastAPI portal. The separate hosted-agent entrypoint is a reference scaffold, not the deployed orchestrator. No WorkIQ, M365 delegated identity, per-user data isolation or video-understanding service is claimed. Browser observations and model-generated assessments are distinct. Publisher access and terms still apply.</a:t>
            </a:r>
          </a:p>
          <a:p/>
          <a:p>
            <a:r>
              <a:t>Visual reference: {"filename": "Foundry-WorkIQ-Tool-Blob-Security-Briefing.pptx", "sha256": "9afe56b777a27f269bbe350ccc4dfaf009f1031c3ab2a8ecbf6fb0d6641d98d9", "usage": "Visual conventions only; no source slides, images or tenant content copied."}</a:t>
            </a:r>
          </a:p>
          <a:p/>
          <a:p>
            <a:r>
              <a:t>Azure service icons: Microsoft Azure Public Service Icons V24. Original SVGs and usage terms are retained in docs/assets/azure-icons. PNGs are proportional transparent renders; no cropping, recoloring, flipping or rotation. The hosting icon represents the Container Apps environment, not a Foundry-hosted agent. The general Toolbox icon represents tool brokerage, not a distinct product logo. No Azure product icon is assigned to WebIQ, mixed-inspector groups or abstract workflow stages.</a:t>
            </a:r>
          </a:p>
          <a:p/>
          <a:p>
            <a:r>
              <a:t>Official authoring/vendor references:</a:t>
            </a:r>
          </a:p>
          <a:p>
            <a:r>
              <a:t>Toolbox: https://learn.microsoft.com/en-us/azure/foundry/agents/how-to/tools/toolbox</a:t>
            </a:r>
          </a:p>
          <a:p>
            <a:r>
              <a:t>Blob identity: https://learn.microsoft.com/en-us/azure/storage/blobs/authorize-access-azure-active-directory</a:t>
            </a:r>
          </a:p>
          <a:p>
            <a:r>
              <a:t>Drawing API: https://python-pptx.readthedocs.io/en/latest/user/autoshapes.html</a:t>
            </a:r>
          </a:p>
          <a:p>
            <a:r>
              <a:t>Azure icons: https://learn.microsoft.com/en-us/azure/architecture/icons/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foundry/agents/how-to/tools/toolbox" TargetMode="External"/><Relationship Id="rId3" Type="http://schemas.openxmlformats.org/officeDocument/2006/relationships/hyperlink" Target="https://learn.microsoft.com/en-us/azure/storage/blobs/authorize-access-azure-active-directory" TargetMode="External"/><Relationship Id="rId4" Type="http://schemas.openxmlformats.org/officeDocument/2006/relationships/hyperlink" Target="https://learn.microsoft.com/en-us/azure/architecture/icons/" TargetMode="External"/><Relationship Id="rId5" Type="http://schemas.openxmlformats.org/officeDocument/2006/relationships/notesSlide" Target="../notesSlides/notesSlid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architecture/icons/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foundry/agents/how-to/tools/toolbox" TargetMode="External"/><Relationship Id="rId3" Type="http://schemas.openxmlformats.org/officeDocument/2006/relationships/hyperlink" Target="https://learn.microsoft.com/en-us/azure/storage/blobs/authorize-access-azure-active-directory" TargetMode="External"/><Relationship Id="rId4" Type="http://schemas.openxmlformats.org/officeDocument/2006/relationships/hyperlink" Target="https://learn.microsoft.com/en-us/azure/architecture/icons/" TargetMode="External"/><Relationship Id="rId5" Type="http://schemas.openxmlformats.org/officeDocument/2006/relationships/notesSlide" Target="../notesSlides/notesSlide3.xml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foundry/agents/how-to/tools/toolbox" TargetMode="External"/><Relationship Id="rId3" Type="http://schemas.openxmlformats.org/officeDocument/2006/relationships/hyperlink" Target="https://learn.microsoft.com/en-us/azure/architecture/icons/" TargetMode="Externa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storage/blobs/authorize-access-azure-active-directory" TargetMode="External"/><Relationship Id="rId3" Type="http://schemas.openxmlformats.org/officeDocument/2006/relationships/hyperlink" Target="https://learn.microsoft.com/en-us/azure/architecture/icons/" TargetMode="Externa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-box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gram-box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ucational-text"/>
          <p:cNvSpPr txBox="1"/>
          <p:nvPr/>
        </p:nvSpPr>
        <p:spPr>
          <a:xfrm>
            <a:off x="457200" y="254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0078D4"/>
                </a:solidFill>
                <a:latin typeface="Segoe UI Semibold"/>
              </a:defRPr>
            </a:pPr>
            <a:r>
              <a:t>01 / LOGICAL AZURE ARCHITECTURE</a:t>
            </a:r>
          </a:p>
        </p:txBody>
      </p:sp>
      <p:sp>
        <p:nvSpPr>
          <p:cNvPr id="5" name="educational-text"/>
          <p:cNvSpPr txBox="1"/>
          <p:nvPr/>
        </p:nvSpPr>
        <p:spPr>
          <a:xfrm>
            <a:off x="457200" y="558800"/>
            <a:ext cx="112776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500">
                <a:solidFill>
                  <a:srgbClr val="0B1E3F"/>
                </a:solidFill>
                <a:latin typeface="Segoe UI Semibold"/>
              </a:defRPr>
            </a:pPr>
            <a:r>
              <a:t>From a product link to an evidence-backed decision</a:t>
            </a:r>
          </a:p>
        </p:txBody>
      </p:sp>
      <p:sp>
        <p:nvSpPr>
          <p:cNvPr id="6" name="educational-text"/>
          <p:cNvSpPr txBox="1"/>
          <p:nvPr/>
        </p:nvSpPr>
        <p:spPr>
          <a:xfrm>
            <a:off x="457200" y="1117600"/>
            <a:ext cx="112776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05E5C"/>
                </a:solidFill>
                <a:latin typeface="Segoe UI"/>
              </a:defRPr>
            </a:pPr>
            <a:r>
              <a:t>The app orchestrates; the model reasons; tools discover and observe; private storage retains permitted evidence.</a:t>
            </a:r>
          </a:p>
        </p:txBody>
      </p:sp>
      <p:sp>
        <p:nvSpPr>
          <p:cNvPr id="7" name="educational-text"/>
          <p:cNvSpPr txBox="1"/>
          <p:nvPr/>
        </p:nvSpPr>
        <p:spPr>
          <a:xfrm>
            <a:off x="457200" y="6591300"/>
            <a:ext cx="96520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605E5C"/>
                </a:solidFill>
                <a:latin typeface="Segoe UI"/>
              </a:defRPr>
            </a:pPr>
            <a:r>
              <a:t>Solution concept | Current prototype | 21 October 2026</a:t>
            </a:r>
          </a:p>
        </p:txBody>
      </p:sp>
      <p:sp>
        <p:nvSpPr>
          <p:cNvPr id="8" name="educational-text"/>
          <p:cNvSpPr txBox="1"/>
          <p:nvPr/>
        </p:nvSpPr>
        <p:spPr>
          <a:xfrm>
            <a:off x="11176000" y="6565900"/>
            <a:ext cx="5588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605E5C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educational-text">
            <a:hlinkClick r:id="rId2"/>
          </p:cNvPr>
          <p:cNvSpPr txBox="1"/>
          <p:nvPr/>
        </p:nvSpPr>
        <p:spPr>
          <a:xfrm>
            <a:off x="457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Toolbox</a:t>
            </a:r>
          </a:p>
        </p:txBody>
      </p:sp>
      <p:sp>
        <p:nvSpPr>
          <p:cNvPr id="10" name="educational-text">
            <a:hlinkClick r:id="rId3"/>
          </p:cNvPr>
          <p:cNvSpPr txBox="1"/>
          <p:nvPr/>
        </p:nvSpPr>
        <p:spPr>
          <a:xfrm>
            <a:off x="2743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Blob identity</a:t>
            </a:r>
          </a:p>
        </p:txBody>
      </p:sp>
      <p:sp>
        <p:nvSpPr>
          <p:cNvPr id="11" name="educational-text">
            <a:hlinkClick r:id="rId4"/>
          </p:cNvPr>
          <p:cNvSpPr txBox="1"/>
          <p:nvPr/>
        </p:nvSpPr>
        <p:spPr>
          <a:xfrm>
            <a:off x="5029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Azure icons</a:t>
            </a:r>
          </a:p>
        </p:txBody>
      </p:sp>
      <p:sp>
        <p:nvSpPr>
          <p:cNvPr id="12" name="responsibility-group"/>
          <p:cNvSpPr/>
          <p:nvPr/>
        </p:nvSpPr>
        <p:spPr>
          <a:xfrm>
            <a:off x="457200" y="1625600"/>
            <a:ext cx="1676400" cy="32766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0160">
            <a:solidFill>
              <a:srgbClr val="007A6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ucational-text"/>
          <p:cNvSpPr txBox="1"/>
          <p:nvPr/>
        </p:nvSpPr>
        <p:spPr>
          <a:xfrm>
            <a:off x="571500" y="1701800"/>
            <a:ext cx="14478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30">
                <a:solidFill>
                  <a:srgbClr val="007A6E"/>
                </a:solidFill>
                <a:latin typeface="Segoe UI Semibold"/>
              </a:defRPr>
            </a:pPr>
            <a:r>
              <a:t>USER DEVICE</a:t>
            </a:r>
          </a:p>
        </p:txBody>
      </p:sp>
      <p:sp>
        <p:nvSpPr>
          <p:cNvPr id="14" name="responsibility-group"/>
          <p:cNvSpPr/>
          <p:nvPr/>
        </p:nvSpPr>
        <p:spPr>
          <a:xfrm>
            <a:off x="2387600" y="1625600"/>
            <a:ext cx="2997200" cy="32766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0160">
            <a:solidFill>
              <a:srgbClr val="0078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azure-icon-container-apps-environment" descr="Official Microsoft icon: container-apps-environm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1900" y="1676400"/>
            <a:ext cx="304800" cy="304800"/>
          </a:xfrm>
          <a:prstGeom prst="rect">
            <a:avLst/>
          </a:prstGeom>
        </p:spPr>
      </p:pic>
      <p:sp>
        <p:nvSpPr>
          <p:cNvPr id="16" name="educational-text"/>
          <p:cNvSpPr txBox="1"/>
          <p:nvPr/>
        </p:nvSpPr>
        <p:spPr>
          <a:xfrm>
            <a:off x="2882900" y="1701800"/>
            <a:ext cx="23876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30">
                <a:solidFill>
                  <a:srgbClr val="0078D4"/>
                </a:solidFill>
                <a:latin typeface="Segoe UI Semibold"/>
              </a:defRPr>
            </a:pPr>
            <a:r>
              <a:t>AZURE CONTAINER APPS ENVIRONMENT</a:t>
            </a:r>
          </a:p>
        </p:txBody>
      </p:sp>
      <p:sp>
        <p:nvSpPr>
          <p:cNvPr id="17" name="responsibility-group"/>
          <p:cNvSpPr/>
          <p:nvPr/>
        </p:nvSpPr>
        <p:spPr>
          <a:xfrm>
            <a:off x="5638800" y="1625600"/>
            <a:ext cx="3733800" cy="32766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0160">
            <a:solidFill>
              <a:srgbClr val="0078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ucational-text"/>
          <p:cNvSpPr txBox="1"/>
          <p:nvPr/>
        </p:nvSpPr>
        <p:spPr>
          <a:xfrm>
            <a:off x="5753100" y="1701800"/>
            <a:ext cx="35052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30">
                <a:solidFill>
                  <a:srgbClr val="0078D4"/>
                </a:solidFill>
                <a:latin typeface="Segoe UI Semibold"/>
              </a:defRPr>
            </a:pPr>
            <a:r>
              <a:t>SERVICE AND TOOL ADAPTERS</a:t>
            </a:r>
          </a:p>
        </p:txBody>
      </p:sp>
      <p:sp>
        <p:nvSpPr>
          <p:cNvPr id="19" name="responsibility-group"/>
          <p:cNvSpPr/>
          <p:nvPr/>
        </p:nvSpPr>
        <p:spPr>
          <a:xfrm>
            <a:off x="9626600" y="1625600"/>
            <a:ext cx="2108200" cy="32766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0160">
            <a:solidFill>
              <a:srgbClr val="5C2D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ucational-text"/>
          <p:cNvSpPr txBox="1"/>
          <p:nvPr/>
        </p:nvSpPr>
        <p:spPr>
          <a:xfrm>
            <a:off x="9740900" y="1701800"/>
            <a:ext cx="18796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30">
                <a:solidFill>
                  <a:srgbClr val="5C2D91"/>
                </a:solidFill>
                <a:latin typeface="Segoe UI Semibold"/>
              </a:defRPr>
            </a:pPr>
            <a:r>
              <a:t>PUBLIC WEBSITES</a:t>
            </a:r>
          </a:p>
        </p:txBody>
      </p:sp>
      <p:sp>
        <p:nvSpPr>
          <p:cNvPr id="21" name="concept-node"/>
          <p:cNvSpPr/>
          <p:nvPr/>
        </p:nvSpPr>
        <p:spPr>
          <a:xfrm>
            <a:off x="609600" y="2184400"/>
            <a:ext cx="1371600" cy="200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azure-icon-browser" descr="Official Microsoft icon: brows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2311400"/>
            <a:ext cx="355600" cy="355600"/>
          </a:xfrm>
          <a:prstGeom prst="rect">
            <a:avLst/>
          </a:prstGeom>
        </p:spPr>
      </p:pic>
      <p:sp>
        <p:nvSpPr>
          <p:cNvPr id="23" name="educational-text"/>
          <p:cNvSpPr txBox="1"/>
          <p:nvPr/>
        </p:nvSpPr>
        <p:spPr>
          <a:xfrm>
            <a:off x="1193800" y="2298700"/>
            <a:ext cx="660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Browser</a:t>
            </a:r>
          </a:p>
        </p:txBody>
      </p:sp>
      <p:sp>
        <p:nvSpPr>
          <p:cNvPr id="24" name="educational-text"/>
          <p:cNvSpPr txBox="1"/>
          <p:nvPr/>
        </p:nvSpPr>
        <p:spPr>
          <a:xfrm>
            <a:off x="736600" y="2705100"/>
            <a:ext cx="1117600" cy="140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70">
                <a:solidFill>
                  <a:srgbClr val="201F1E"/>
                </a:solidFill>
                <a:latin typeface="Segoe UI"/>
              </a:defRPr>
            </a:pPr>
            <a:r>
              <a:t>Portal inputs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70">
                <a:solidFill>
                  <a:srgbClr val="201F1E"/>
                </a:solidFill>
                <a:latin typeface="Segoe UI"/>
              </a:defRPr>
            </a:pPr>
            <a:r>
              <a:t>Product URL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70">
                <a:solidFill>
                  <a:srgbClr val="201F1E"/>
                </a:solidFill>
                <a:latin typeface="Segoe UI"/>
              </a:defRPr>
            </a:pPr>
            <a:r>
              <a:t>Buyer priorities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70">
                <a:solidFill>
                  <a:srgbClr val="201F1E"/>
                </a:solidFill>
                <a:latin typeface="Segoe UI"/>
              </a:defRPr>
            </a:pPr>
            <a:r>
              <a:t>Live progress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70">
                <a:solidFill>
                  <a:srgbClr val="201F1E"/>
                </a:solidFill>
                <a:latin typeface="Segoe UI"/>
              </a:defRPr>
            </a:pPr>
            <a:r>
              <a:t>Saved research</a:t>
            </a:r>
          </a:p>
        </p:txBody>
      </p:sp>
      <p:sp>
        <p:nvSpPr>
          <p:cNvPr id="25" name="concept-node"/>
          <p:cNvSpPr/>
          <p:nvPr/>
        </p:nvSpPr>
        <p:spPr>
          <a:xfrm>
            <a:off x="2590800" y="2032000"/>
            <a:ext cx="2590800" cy="259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ucational-text"/>
          <p:cNvSpPr txBox="1"/>
          <p:nvPr/>
        </p:nvSpPr>
        <p:spPr>
          <a:xfrm>
            <a:off x="2717800" y="2146300"/>
            <a:ext cx="2336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FastAPI + SSE portal</a:t>
            </a:r>
          </a:p>
        </p:txBody>
      </p:sp>
      <p:sp>
        <p:nvSpPr>
          <p:cNvPr id="27" name="educational-text"/>
          <p:cNvSpPr txBox="1"/>
          <p:nvPr/>
        </p:nvSpPr>
        <p:spPr>
          <a:xfrm>
            <a:off x="2717800" y="2552700"/>
            <a:ext cx="2336800" cy="199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01F1E"/>
                </a:solidFill>
                <a:latin typeface="Segoe UI"/>
              </a:defRPr>
            </a:pPr>
            <a:r>
              <a:t>Azure-hosted deployment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01F1E"/>
                </a:solidFill>
                <a:latin typeface="Segoe UI"/>
              </a:defRPr>
            </a:pPr>
            <a:r>
              <a:t>Agent-planned workflow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01F1E"/>
                </a:solidFill>
                <a:latin typeface="Segoe UI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01F1E"/>
                </a:solidFill>
                <a:latin typeface="Segoe UI"/>
              </a:defRPr>
            </a:pPr>
            <a:r>
              <a:t>Governed SKILL.md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01F1E"/>
                </a:solidFill>
                <a:latin typeface="Segoe UI"/>
              </a:defRPr>
            </a:pPr>
            <a:r>
              <a:t>Bounded tool execution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01F1E"/>
                </a:solidFill>
                <a:latin typeface="Segoe UI"/>
              </a:defRPr>
            </a:pPr>
            <a:r>
              <a:t>Evidence checks + gaps</a:t>
            </a:r>
          </a:p>
        </p:txBody>
      </p:sp>
      <p:sp>
        <p:nvSpPr>
          <p:cNvPr id="28" name="concept-node"/>
          <p:cNvSpPr/>
          <p:nvPr/>
        </p:nvSpPr>
        <p:spPr>
          <a:xfrm>
            <a:off x="5842000" y="2032000"/>
            <a:ext cx="33274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azure-icon-foundry-models" descr="Official Microsoft icon: foundry-model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2159000"/>
            <a:ext cx="355600" cy="355600"/>
          </a:xfrm>
          <a:prstGeom prst="rect">
            <a:avLst/>
          </a:prstGeom>
        </p:spPr>
      </p:pic>
      <p:sp>
        <p:nvSpPr>
          <p:cNvPr id="30" name="educational-text"/>
          <p:cNvSpPr txBox="1"/>
          <p:nvPr/>
        </p:nvSpPr>
        <p:spPr>
          <a:xfrm>
            <a:off x="6426200" y="2146300"/>
            <a:ext cx="26162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Foundry Models</a:t>
            </a:r>
          </a:p>
        </p:txBody>
      </p:sp>
      <p:sp>
        <p:nvSpPr>
          <p:cNvPr id="31" name="educational-text"/>
          <p:cNvSpPr txBox="1"/>
          <p:nvPr/>
        </p:nvSpPr>
        <p:spPr>
          <a:xfrm>
            <a:off x="5969000" y="2552700"/>
            <a:ext cx="30734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01F1E"/>
                </a:solidFill>
                <a:latin typeface="Segoe UI"/>
              </a:defRPr>
            </a:pPr>
            <a:r>
              <a:t>Plan queries; interpret; synthesize</a:t>
            </a:r>
          </a:p>
        </p:txBody>
      </p:sp>
      <p:sp>
        <p:nvSpPr>
          <p:cNvPr id="32" name="concept-node"/>
          <p:cNvSpPr/>
          <p:nvPr/>
        </p:nvSpPr>
        <p:spPr>
          <a:xfrm>
            <a:off x="5842000" y="3022600"/>
            <a:ext cx="33274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ucational-text"/>
          <p:cNvSpPr txBox="1"/>
          <p:nvPr/>
        </p:nvSpPr>
        <p:spPr>
          <a:xfrm>
            <a:off x="5969000" y="3136900"/>
            <a:ext cx="3073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5C2D91"/>
                </a:solidFill>
                <a:latin typeface="Segoe UI Semibold"/>
              </a:defRPr>
            </a:pPr>
            <a:r>
              <a:t>Review discovery</a:t>
            </a:r>
          </a:p>
        </p:txBody>
      </p:sp>
      <p:sp>
        <p:nvSpPr>
          <p:cNvPr id="34" name="educational-text"/>
          <p:cNvSpPr txBox="1"/>
          <p:nvPr/>
        </p:nvSpPr>
        <p:spPr>
          <a:xfrm>
            <a:off x="5969000" y="3543300"/>
            <a:ext cx="30734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201F1E"/>
                </a:solidFill>
                <a:latin typeface="Segoe UI"/>
              </a:defRPr>
            </a:pPr>
            <a:r>
              <a:t>WebIQ Search OR Toolbox web_search</a:t>
            </a:r>
          </a:p>
        </p:txBody>
      </p:sp>
      <p:sp>
        <p:nvSpPr>
          <p:cNvPr id="35" name="concept-node"/>
          <p:cNvSpPr/>
          <p:nvPr/>
        </p:nvSpPr>
        <p:spPr>
          <a:xfrm>
            <a:off x="5842000" y="4013200"/>
            <a:ext cx="33274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ucational-text"/>
          <p:cNvSpPr txBox="1"/>
          <p:nvPr/>
        </p:nvSpPr>
        <p:spPr>
          <a:xfrm>
            <a:off x="5969000" y="4127500"/>
            <a:ext cx="3073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Selected inspector</a:t>
            </a:r>
          </a:p>
        </p:txBody>
      </p:sp>
      <p:sp>
        <p:nvSpPr>
          <p:cNvPr id="37" name="educational-text"/>
          <p:cNvSpPr txBox="1"/>
          <p:nvPr/>
        </p:nvSpPr>
        <p:spPr>
          <a:xfrm>
            <a:off x="5969000" y="4533900"/>
            <a:ext cx="30734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80">
                <a:solidFill>
                  <a:srgbClr val="201F1E"/>
                </a:solidFill>
                <a:latin typeface="Segoe UI"/>
              </a:defRPr>
            </a:pPr>
            <a:r>
              <a:t>WebIQ Browse / BAT / Local / VM</a:t>
            </a:r>
          </a:p>
        </p:txBody>
      </p:sp>
      <p:sp>
        <p:nvSpPr>
          <p:cNvPr id="38" name="concept-node"/>
          <p:cNvSpPr/>
          <p:nvPr/>
        </p:nvSpPr>
        <p:spPr>
          <a:xfrm>
            <a:off x="9829800" y="2184400"/>
            <a:ext cx="1701800" cy="233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ucational-text"/>
          <p:cNvSpPr txBox="1"/>
          <p:nvPr/>
        </p:nvSpPr>
        <p:spPr>
          <a:xfrm>
            <a:off x="9956800" y="2298700"/>
            <a:ext cx="1447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5C2D91"/>
                </a:solidFill>
                <a:latin typeface="Segoe UI Semibold"/>
              </a:defRPr>
            </a:pPr>
            <a:r>
              <a:t>Source pages</a:t>
            </a:r>
          </a:p>
        </p:txBody>
      </p:sp>
      <p:sp>
        <p:nvSpPr>
          <p:cNvPr id="40" name="educational-text"/>
          <p:cNvSpPr txBox="1"/>
          <p:nvPr/>
        </p:nvSpPr>
        <p:spPr>
          <a:xfrm>
            <a:off x="9956800" y="2705100"/>
            <a:ext cx="1447800" cy="1739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201F1E"/>
                </a:solidFill>
                <a:latin typeface="Segoe UI"/>
              </a:defRPr>
            </a:pPr>
            <a:r>
              <a:t>Product listing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201F1E"/>
                </a:solidFill>
                <a:latin typeface="Segoe UI"/>
              </a:defRPr>
            </a:pPr>
            <a:r>
              <a:t>Review sites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201F1E"/>
                </a:solidFill>
                <a:latin typeface="Segoe UI"/>
              </a:defRPr>
            </a:pPr>
            <a:r>
              <a:t>Forums + retailer Q&amp;A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201F1E"/>
                </a:solidFill>
                <a:latin typeface="Segoe UI"/>
              </a:defRPr>
            </a:pPr>
            <a:r>
              <a:t>Public video-page text</a:t>
            </a:r>
          </a:p>
        </p:txBody>
      </p:sp>
      <p:cxnSp>
        <p:nvCxnSpPr>
          <p:cNvPr id="41" name="concept-flow"/>
          <p:cNvCxnSpPr/>
          <p:nvPr/>
        </p:nvCxnSpPr>
        <p:spPr>
          <a:xfrm>
            <a:off x="1981200" y="2933700"/>
            <a:ext cx="609600" cy="0"/>
          </a:xfrm>
          <a:prstGeom prst="line">
            <a:avLst/>
          </a:prstGeom>
          <a:ln w="21590">
            <a:solidFill>
              <a:srgbClr val="007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number"/>
          <p:cNvSpPr/>
          <p:nvPr/>
        </p:nvSpPr>
        <p:spPr>
          <a:xfrm>
            <a:off x="2171700" y="2628900"/>
            <a:ext cx="228600" cy="228600"/>
          </a:xfrm>
          <a:prstGeom prst="ellipse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ucational-text"/>
          <p:cNvSpPr txBox="1"/>
          <p:nvPr/>
        </p:nvSpPr>
        <p:spPr>
          <a:xfrm>
            <a:off x="2184400" y="26619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1</a:t>
            </a:r>
          </a:p>
        </p:txBody>
      </p:sp>
      <p:cxnSp>
        <p:nvCxnSpPr>
          <p:cNvPr id="44" name="concept-flow"/>
          <p:cNvCxnSpPr/>
          <p:nvPr/>
        </p:nvCxnSpPr>
        <p:spPr>
          <a:xfrm>
            <a:off x="5181600" y="2438400"/>
            <a:ext cx="660400" cy="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low-number"/>
          <p:cNvSpPr/>
          <p:nvPr/>
        </p:nvSpPr>
        <p:spPr>
          <a:xfrm>
            <a:off x="5397500" y="2133600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ucational-text"/>
          <p:cNvSpPr txBox="1"/>
          <p:nvPr/>
        </p:nvSpPr>
        <p:spPr>
          <a:xfrm>
            <a:off x="5410200" y="21666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2</a:t>
            </a:r>
          </a:p>
        </p:txBody>
      </p:sp>
      <p:cxnSp>
        <p:nvCxnSpPr>
          <p:cNvPr id="47" name="concept-flow"/>
          <p:cNvCxnSpPr/>
          <p:nvPr/>
        </p:nvCxnSpPr>
        <p:spPr>
          <a:xfrm>
            <a:off x="5181600" y="3429000"/>
            <a:ext cx="660400" cy="0"/>
          </a:xfrm>
          <a:prstGeom prst="line">
            <a:avLst/>
          </a:prstGeom>
          <a:ln w="21590">
            <a:solidFill>
              <a:srgbClr val="5C2D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low-number"/>
          <p:cNvSpPr/>
          <p:nvPr/>
        </p:nvSpPr>
        <p:spPr>
          <a:xfrm>
            <a:off x="5397500" y="3124200"/>
            <a:ext cx="228600" cy="22860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ucational-text"/>
          <p:cNvSpPr txBox="1"/>
          <p:nvPr/>
        </p:nvSpPr>
        <p:spPr>
          <a:xfrm>
            <a:off x="5410200" y="31572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3</a:t>
            </a:r>
          </a:p>
        </p:txBody>
      </p:sp>
      <p:cxnSp>
        <p:nvCxnSpPr>
          <p:cNvPr id="50" name="concept-flow"/>
          <p:cNvCxnSpPr/>
          <p:nvPr/>
        </p:nvCxnSpPr>
        <p:spPr>
          <a:xfrm>
            <a:off x="5181600" y="4419600"/>
            <a:ext cx="660400" cy="0"/>
          </a:xfrm>
          <a:prstGeom prst="line">
            <a:avLst/>
          </a:prstGeom>
          <a:ln w="21590">
            <a:solidFill>
              <a:srgbClr val="007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low-number"/>
          <p:cNvSpPr/>
          <p:nvPr/>
        </p:nvSpPr>
        <p:spPr>
          <a:xfrm>
            <a:off x="5397500" y="4114800"/>
            <a:ext cx="228600" cy="228600"/>
          </a:xfrm>
          <a:prstGeom prst="ellipse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ucational-text"/>
          <p:cNvSpPr txBox="1"/>
          <p:nvPr/>
        </p:nvSpPr>
        <p:spPr>
          <a:xfrm>
            <a:off x="5410200" y="41478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4</a:t>
            </a:r>
          </a:p>
        </p:txBody>
      </p:sp>
      <p:cxnSp>
        <p:nvCxnSpPr>
          <p:cNvPr id="53" name="concept-flow"/>
          <p:cNvCxnSpPr/>
          <p:nvPr/>
        </p:nvCxnSpPr>
        <p:spPr>
          <a:xfrm>
            <a:off x="9169400" y="3429000"/>
            <a:ext cx="660400" cy="0"/>
          </a:xfrm>
          <a:prstGeom prst="line">
            <a:avLst/>
          </a:prstGeom>
          <a:ln w="21590">
            <a:solidFill>
              <a:srgbClr val="5C2D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cept-flow"/>
          <p:cNvCxnSpPr/>
          <p:nvPr/>
        </p:nvCxnSpPr>
        <p:spPr>
          <a:xfrm>
            <a:off x="9169400" y="4419600"/>
            <a:ext cx="660400" cy="0"/>
          </a:xfrm>
          <a:prstGeom prst="line">
            <a:avLst/>
          </a:prstGeom>
          <a:ln w="21590">
            <a:solidFill>
              <a:srgbClr val="007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cept-flow"/>
          <p:cNvCxnSpPr/>
          <p:nvPr/>
        </p:nvCxnSpPr>
        <p:spPr>
          <a:xfrm flipH="1">
            <a:off x="1981200" y="3784600"/>
            <a:ext cx="609600" cy="0"/>
          </a:xfrm>
          <a:prstGeom prst="line">
            <a:avLst/>
          </a:prstGeom>
          <a:ln w="21590">
            <a:solidFill>
              <a:srgbClr val="007A6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low-number"/>
          <p:cNvSpPr/>
          <p:nvPr/>
        </p:nvSpPr>
        <p:spPr>
          <a:xfrm>
            <a:off x="2171700" y="3479800"/>
            <a:ext cx="228600" cy="228600"/>
          </a:xfrm>
          <a:prstGeom prst="ellipse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ucational-text"/>
          <p:cNvSpPr txBox="1"/>
          <p:nvPr/>
        </p:nvSpPr>
        <p:spPr>
          <a:xfrm>
            <a:off x="2184400" y="35128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6</a:t>
            </a:r>
          </a:p>
        </p:txBody>
      </p:sp>
      <p:sp>
        <p:nvSpPr>
          <p:cNvPr id="58" name="concept-node"/>
          <p:cNvSpPr/>
          <p:nvPr/>
        </p:nvSpPr>
        <p:spPr>
          <a:xfrm>
            <a:off x="2387600" y="5092700"/>
            <a:ext cx="2997200" cy="76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azure-icon-storage-account" descr="Official Microsoft icon: storage-accoun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4600" y="5219700"/>
            <a:ext cx="355600" cy="355600"/>
          </a:xfrm>
          <a:prstGeom prst="rect">
            <a:avLst/>
          </a:prstGeom>
        </p:spPr>
      </p:pic>
      <p:sp>
        <p:nvSpPr>
          <p:cNvPr id="60" name="educational-text"/>
          <p:cNvSpPr txBox="1"/>
          <p:nvPr/>
        </p:nvSpPr>
        <p:spPr>
          <a:xfrm>
            <a:off x="2971800" y="52070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Azure Storage / Blob</a:t>
            </a:r>
          </a:p>
        </p:txBody>
      </p:sp>
      <p:sp>
        <p:nvSpPr>
          <p:cNvPr id="61" name="educational-text"/>
          <p:cNvSpPr txBox="1"/>
          <p:nvPr/>
        </p:nvSpPr>
        <p:spPr>
          <a:xfrm>
            <a:off x="2514600" y="5613400"/>
            <a:ext cx="27432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80">
                <a:solidFill>
                  <a:srgbClr val="201F1E"/>
                </a:solidFill>
                <a:latin typeface="Segoe UI"/>
              </a:defRPr>
            </a:pPr>
            <a:r>
              <a:t>Generated brief + observations + PNGs</a:t>
            </a:r>
          </a:p>
        </p:txBody>
      </p:sp>
      <p:cxnSp>
        <p:nvCxnSpPr>
          <p:cNvPr id="62" name="concept-flow"/>
          <p:cNvCxnSpPr/>
          <p:nvPr/>
        </p:nvCxnSpPr>
        <p:spPr>
          <a:xfrm>
            <a:off x="3886200" y="4622800"/>
            <a:ext cx="0" cy="469900"/>
          </a:xfrm>
          <a:prstGeom prst="line">
            <a:avLst/>
          </a:prstGeom>
          <a:ln w="21590">
            <a:solidFill>
              <a:srgbClr val="007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low-number"/>
          <p:cNvSpPr/>
          <p:nvPr/>
        </p:nvSpPr>
        <p:spPr>
          <a:xfrm>
            <a:off x="4064000" y="4787900"/>
            <a:ext cx="228600" cy="228600"/>
          </a:xfrm>
          <a:prstGeom prst="ellipse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ucational-text"/>
          <p:cNvSpPr txBox="1"/>
          <p:nvPr/>
        </p:nvSpPr>
        <p:spPr>
          <a:xfrm>
            <a:off x="4076700" y="48209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5</a:t>
            </a:r>
          </a:p>
        </p:txBody>
      </p:sp>
      <p:sp>
        <p:nvSpPr>
          <p:cNvPr id="65" name="educational-text"/>
          <p:cNvSpPr txBox="1"/>
          <p:nvPr/>
        </p:nvSpPr>
        <p:spPr>
          <a:xfrm>
            <a:off x="5842000" y="5080000"/>
            <a:ext cx="58928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19">
                <a:solidFill>
                  <a:srgbClr val="201F1E"/>
                </a:solidFill>
                <a:latin typeface="Segoe UI"/>
              </a:defRPr>
            </a:pPr>
            <a:r>
              <a:t>2  Model calls     3  Search candidates     4  Observe eligible pages</a:t>
            </a:r>
          </a:p>
        </p:txBody>
      </p:sp>
      <p:sp>
        <p:nvSpPr>
          <p:cNvPr id="66" name="educational-text"/>
          <p:cNvSpPr txBox="1"/>
          <p:nvPr/>
        </p:nvSpPr>
        <p:spPr>
          <a:xfrm>
            <a:off x="5842000" y="5384800"/>
            <a:ext cx="58928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19">
                <a:solidFill>
                  <a:srgbClr val="201F1E"/>
                </a:solidFill>
                <a:latin typeface="Segoe UI"/>
              </a:defRPr>
            </a:pPr>
            <a:r>
              <a:t>5  Retain permitted evidence     6  Stream results + reopen via app</a:t>
            </a:r>
          </a:p>
        </p:txBody>
      </p:sp>
      <p:sp>
        <p:nvSpPr>
          <p:cNvPr id="67" name="diagram-box"/>
          <p:cNvSpPr/>
          <p:nvPr/>
        </p:nvSpPr>
        <p:spPr>
          <a:xfrm>
            <a:off x="457200" y="5930900"/>
            <a:ext cx="11277600" cy="4318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gram-box"/>
          <p:cNvSpPr/>
          <p:nvPr/>
        </p:nvSpPr>
        <p:spPr>
          <a:xfrm>
            <a:off x="584200" y="59817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azure-icon-managed-identity" descr="Official Microsoft icon: managed-identit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300" y="6019800"/>
            <a:ext cx="254000" cy="254000"/>
          </a:xfrm>
          <a:prstGeom prst="rect">
            <a:avLst/>
          </a:prstGeom>
        </p:spPr>
      </p:pic>
      <p:sp>
        <p:nvSpPr>
          <p:cNvPr id="70" name="educational-text"/>
          <p:cNvSpPr txBox="1"/>
          <p:nvPr/>
        </p:nvSpPr>
        <p:spPr>
          <a:xfrm>
            <a:off x="1041400" y="6032500"/>
            <a:ext cx="10528300" cy="292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Managed identity -&gt; Foundry + private Blob. WebIQ/worker access is separate; website permission is never inherited.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-box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gram-box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ucational-text"/>
          <p:cNvSpPr txBox="1"/>
          <p:nvPr/>
        </p:nvSpPr>
        <p:spPr>
          <a:xfrm>
            <a:off x="457200" y="254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0078D4"/>
                </a:solidFill>
                <a:latin typeface="Segoe UI Semibold"/>
              </a:defRPr>
            </a:pPr>
            <a:r>
              <a:t>02 / AGENT-PLANNED RESEARCH FLOW</a:t>
            </a:r>
          </a:p>
        </p:txBody>
      </p:sp>
      <p:sp>
        <p:nvSpPr>
          <p:cNvPr id="5" name="educational-text"/>
          <p:cNvSpPr txBox="1"/>
          <p:nvPr/>
        </p:nvSpPr>
        <p:spPr>
          <a:xfrm>
            <a:off x="457200" y="558800"/>
            <a:ext cx="112776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500">
                <a:solidFill>
                  <a:srgbClr val="0B1E3F"/>
                </a:solidFill>
                <a:latin typeface="Segoe UI Semibold"/>
              </a:defRPr>
            </a:pPr>
            <a:r>
              <a:t>Four stable stages; the investigation adapts</a:t>
            </a:r>
          </a:p>
        </p:txBody>
      </p:sp>
      <p:sp>
        <p:nvSpPr>
          <p:cNvPr id="6" name="educational-text"/>
          <p:cNvSpPr txBox="1"/>
          <p:nvPr/>
        </p:nvSpPr>
        <p:spPr>
          <a:xfrm>
            <a:off x="457200" y="1117600"/>
            <a:ext cx="112776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05E5C"/>
                </a:solidFill>
                <a:latin typeface="Segoe UI"/>
              </a:defRPr>
            </a:pPr>
            <a:r>
              <a:t>Buyer intent shapes the questions and follow-up actions. Search discovery is not the same as reading a page.</a:t>
            </a:r>
          </a:p>
        </p:txBody>
      </p:sp>
      <p:sp>
        <p:nvSpPr>
          <p:cNvPr id="7" name="educational-text"/>
          <p:cNvSpPr txBox="1"/>
          <p:nvPr/>
        </p:nvSpPr>
        <p:spPr>
          <a:xfrm>
            <a:off x="457200" y="6591300"/>
            <a:ext cx="96520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605E5C"/>
                </a:solidFill>
                <a:latin typeface="Segoe UI"/>
              </a:defRPr>
            </a:pPr>
            <a:r>
              <a:t>Solution concept | Current prototype | 21 October 2026</a:t>
            </a:r>
          </a:p>
        </p:txBody>
      </p:sp>
      <p:sp>
        <p:nvSpPr>
          <p:cNvPr id="8" name="educational-text"/>
          <p:cNvSpPr txBox="1"/>
          <p:nvPr/>
        </p:nvSpPr>
        <p:spPr>
          <a:xfrm>
            <a:off x="11176000" y="6565900"/>
            <a:ext cx="5588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605E5C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educational-text">
            <a:hlinkClick r:id="rId2"/>
          </p:cNvPr>
          <p:cNvSpPr txBox="1"/>
          <p:nvPr/>
        </p:nvSpPr>
        <p:spPr>
          <a:xfrm>
            <a:off x="457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Azure icons</a:t>
            </a:r>
          </a:p>
        </p:txBody>
      </p:sp>
      <p:sp>
        <p:nvSpPr>
          <p:cNvPr id="10" name="concept-node"/>
          <p:cNvSpPr/>
          <p:nvPr/>
        </p:nvSpPr>
        <p:spPr>
          <a:xfrm>
            <a:off x="457200" y="1689100"/>
            <a:ext cx="2590800" cy="838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ucational-text"/>
          <p:cNvSpPr txBox="1"/>
          <p:nvPr/>
        </p:nvSpPr>
        <p:spPr>
          <a:xfrm>
            <a:off x="584200" y="1803400"/>
            <a:ext cx="2336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Product URL + priorities</a:t>
            </a:r>
          </a:p>
        </p:txBody>
      </p:sp>
      <p:sp>
        <p:nvSpPr>
          <p:cNvPr id="12" name="educational-text"/>
          <p:cNvSpPr txBox="1"/>
          <p:nvPr/>
        </p:nvSpPr>
        <p:spPr>
          <a:xfrm>
            <a:off x="584200" y="2209800"/>
            <a:ext cx="23368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01F1E"/>
                </a:solidFill>
                <a:latin typeface="Segoe UI"/>
              </a:defRPr>
            </a:pPr>
            <a:r>
              <a:t>The user's starting point</a:t>
            </a:r>
          </a:p>
        </p:txBody>
      </p:sp>
      <p:cxnSp>
        <p:nvCxnSpPr>
          <p:cNvPr id="13" name="concept-flow"/>
          <p:cNvCxnSpPr/>
          <p:nvPr/>
        </p:nvCxnSpPr>
        <p:spPr>
          <a:xfrm>
            <a:off x="1752600" y="2527300"/>
            <a:ext cx="0" cy="41910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ept-node"/>
          <p:cNvSpPr/>
          <p:nvPr/>
        </p:nvSpPr>
        <p:spPr>
          <a:xfrm>
            <a:off x="457200" y="2946400"/>
            <a:ext cx="2590800" cy="154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ucational-text"/>
          <p:cNvSpPr txBox="1"/>
          <p:nvPr/>
        </p:nvSpPr>
        <p:spPr>
          <a:xfrm>
            <a:off x="584200" y="3060700"/>
            <a:ext cx="2336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1  Listing</a:t>
            </a:r>
          </a:p>
        </p:txBody>
      </p:sp>
      <p:sp>
        <p:nvSpPr>
          <p:cNvPr id="16" name="educational-text"/>
          <p:cNvSpPr txBox="1"/>
          <p:nvPr/>
        </p:nvSpPr>
        <p:spPr>
          <a:xfrm>
            <a:off x="584200" y="3467100"/>
            <a:ext cx="2336800" cy="952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Observe identity, variant,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price and seller claims.</a:t>
            </a:r>
          </a:p>
        </p:txBody>
      </p:sp>
      <p:sp>
        <p:nvSpPr>
          <p:cNvPr id="17" name="concept-node"/>
          <p:cNvSpPr/>
          <p:nvPr/>
        </p:nvSpPr>
        <p:spPr>
          <a:xfrm>
            <a:off x="3352800" y="2946400"/>
            <a:ext cx="2590800" cy="154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ucational-text"/>
          <p:cNvSpPr txBox="1"/>
          <p:nvPr/>
        </p:nvSpPr>
        <p:spPr>
          <a:xfrm>
            <a:off x="3479800" y="3060700"/>
            <a:ext cx="2336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5C2D91"/>
                </a:solidFill>
                <a:latin typeface="Segoe UI Semibold"/>
              </a:defRPr>
            </a:pPr>
            <a:r>
              <a:t>2  Discovery</a:t>
            </a:r>
          </a:p>
        </p:txBody>
      </p:sp>
      <p:sp>
        <p:nvSpPr>
          <p:cNvPr id="19" name="educational-text"/>
          <p:cNvSpPr txBox="1"/>
          <p:nvPr/>
        </p:nvSpPr>
        <p:spPr>
          <a:xfrm>
            <a:off x="3479800" y="3467100"/>
            <a:ext cx="2336800" cy="952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Plan queries; find relevant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review/community sources.</a:t>
            </a:r>
          </a:p>
        </p:txBody>
      </p:sp>
      <p:sp>
        <p:nvSpPr>
          <p:cNvPr id="20" name="concept-node"/>
          <p:cNvSpPr/>
          <p:nvPr/>
        </p:nvSpPr>
        <p:spPr>
          <a:xfrm>
            <a:off x="6248400" y="2946400"/>
            <a:ext cx="2590800" cy="154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ucational-text"/>
          <p:cNvSpPr txBox="1"/>
          <p:nvPr/>
        </p:nvSpPr>
        <p:spPr>
          <a:xfrm>
            <a:off x="6375400" y="3060700"/>
            <a:ext cx="2336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3  Inspection</a:t>
            </a:r>
          </a:p>
        </p:txBody>
      </p:sp>
      <p:sp>
        <p:nvSpPr>
          <p:cNvPr id="22" name="educational-text"/>
          <p:cNvSpPr txBox="1"/>
          <p:nvPr/>
        </p:nvSpPr>
        <p:spPr>
          <a:xfrm>
            <a:off x="6375400" y="3467100"/>
            <a:ext cx="2336800" cy="952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Read eligible pages;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record text, status and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available true PNGs.</a:t>
            </a:r>
          </a:p>
        </p:txBody>
      </p:sp>
      <p:sp>
        <p:nvSpPr>
          <p:cNvPr id="23" name="concept-node"/>
          <p:cNvSpPr/>
          <p:nvPr/>
        </p:nvSpPr>
        <p:spPr>
          <a:xfrm>
            <a:off x="9144000" y="2946400"/>
            <a:ext cx="2590800" cy="154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ucational-text"/>
          <p:cNvSpPr txBox="1"/>
          <p:nvPr/>
        </p:nvSpPr>
        <p:spPr>
          <a:xfrm>
            <a:off x="9271000" y="3060700"/>
            <a:ext cx="2336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4  Brief</a:t>
            </a:r>
          </a:p>
        </p:txBody>
      </p:sp>
      <p:sp>
        <p:nvSpPr>
          <p:cNvPr id="25" name="educational-text"/>
          <p:cNvSpPr txBox="1"/>
          <p:nvPr/>
        </p:nvSpPr>
        <p:spPr>
          <a:xfrm>
            <a:off x="9271000" y="3467100"/>
            <a:ext cx="2336800" cy="952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Reconcile claims;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explain fit, risks and gaps;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201F1E"/>
                </a:solidFill>
                <a:latin typeface="Segoe UI"/>
              </a:defRPr>
            </a:pPr>
            <a:r>
              <a:t>attribute the assessment.</a:t>
            </a:r>
          </a:p>
        </p:txBody>
      </p:sp>
      <p:cxnSp>
        <p:nvCxnSpPr>
          <p:cNvPr id="26" name="concept-flow"/>
          <p:cNvCxnSpPr/>
          <p:nvPr/>
        </p:nvCxnSpPr>
        <p:spPr>
          <a:xfrm>
            <a:off x="3048000" y="3721100"/>
            <a:ext cx="304800" cy="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cept-flow"/>
          <p:cNvCxnSpPr/>
          <p:nvPr/>
        </p:nvCxnSpPr>
        <p:spPr>
          <a:xfrm>
            <a:off x="5943600" y="3721100"/>
            <a:ext cx="304800" cy="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cept-flow"/>
          <p:cNvCxnSpPr/>
          <p:nvPr/>
        </p:nvCxnSpPr>
        <p:spPr>
          <a:xfrm>
            <a:off x="8839200" y="3721100"/>
            <a:ext cx="304800" cy="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cept-flow"/>
          <p:cNvCxnSpPr/>
          <p:nvPr/>
        </p:nvCxnSpPr>
        <p:spPr>
          <a:xfrm flipV="1">
            <a:off x="6096000" y="2413000"/>
            <a:ext cx="0" cy="1308100"/>
          </a:xfrm>
          <a:prstGeom prst="line">
            <a:avLst/>
          </a:prstGeom>
          <a:ln w="21590">
            <a:solidFill>
              <a:srgbClr val="98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cept-flow"/>
          <p:cNvCxnSpPr/>
          <p:nvPr/>
        </p:nvCxnSpPr>
        <p:spPr>
          <a:xfrm>
            <a:off x="6096000" y="2413000"/>
            <a:ext cx="4343400" cy="0"/>
          </a:xfrm>
          <a:prstGeom prst="line">
            <a:avLst/>
          </a:prstGeom>
          <a:ln w="21590">
            <a:solidFill>
              <a:srgbClr val="98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cept-flow"/>
          <p:cNvCxnSpPr/>
          <p:nvPr/>
        </p:nvCxnSpPr>
        <p:spPr>
          <a:xfrm>
            <a:off x="10439400" y="2413000"/>
            <a:ext cx="0" cy="533400"/>
          </a:xfrm>
          <a:prstGeom prst="line">
            <a:avLst/>
          </a:prstGeom>
          <a:ln w="21590">
            <a:solidFill>
              <a:srgbClr val="986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ucational-text"/>
          <p:cNvSpPr txBox="1"/>
          <p:nvPr/>
        </p:nvSpPr>
        <p:spPr>
          <a:xfrm>
            <a:off x="6426200" y="2019300"/>
            <a:ext cx="3937000" cy="292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986A00"/>
                </a:solidFill>
                <a:latin typeface="Segoe UI Semibold"/>
              </a:defRPr>
            </a:pPr>
            <a:r>
              <a:t>Search-only reviews: skip stage 3</a:t>
            </a:r>
          </a:p>
        </p:txBody>
      </p:sp>
      <p:sp>
        <p:nvSpPr>
          <p:cNvPr id="33" name="concept-node"/>
          <p:cNvSpPr/>
          <p:nvPr/>
        </p:nvSpPr>
        <p:spPr>
          <a:xfrm>
            <a:off x="457200" y="5041900"/>
            <a:ext cx="44958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9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ucational-text"/>
          <p:cNvSpPr txBox="1"/>
          <p:nvPr/>
        </p:nvSpPr>
        <p:spPr>
          <a:xfrm>
            <a:off x="584200" y="5156200"/>
            <a:ext cx="4241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986A00"/>
                </a:solidFill>
                <a:latin typeface="Segoe UI Semibold"/>
              </a:defRPr>
            </a:pPr>
            <a:r>
              <a:t>Restrictions remain gaps</a:t>
            </a:r>
          </a:p>
        </p:txBody>
      </p:sp>
      <p:sp>
        <p:nvSpPr>
          <p:cNvPr id="35" name="educational-text"/>
          <p:cNvSpPr txBox="1"/>
          <p:nvPr/>
        </p:nvSpPr>
        <p:spPr>
          <a:xfrm>
            <a:off x="584200" y="5562600"/>
            <a:ext cx="42418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Denied or unread does not mean inspected.</a:t>
            </a:r>
          </a:p>
        </p:txBody>
      </p:sp>
      <p:sp>
        <p:nvSpPr>
          <p:cNvPr id="36" name="concept-node"/>
          <p:cNvSpPr/>
          <p:nvPr/>
        </p:nvSpPr>
        <p:spPr>
          <a:xfrm>
            <a:off x="5334000" y="5041900"/>
            <a:ext cx="40386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ucational-text"/>
          <p:cNvSpPr txBox="1"/>
          <p:nvPr/>
        </p:nvSpPr>
        <p:spPr>
          <a:xfrm>
            <a:off x="5461000" y="5156200"/>
            <a:ext cx="3784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Optional bounded exploration</a:t>
            </a:r>
          </a:p>
        </p:txBody>
      </p:sp>
      <p:sp>
        <p:nvSpPr>
          <p:cNvPr id="38" name="educational-text"/>
          <p:cNvSpPr txBox="1"/>
          <p:nvPr/>
        </p:nvSpPr>
        <p:spPr>
          <a:xfrm>
            <a:off x="5461000" y="5562600"/>
            <a:ext cx="3784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30">
                <a:solidFill>
                  <a:srgbClr val="201F1E"/>
                </a:solidFill>
                <a:latin typeface="Segoe UI"/>
              </a:defRPr>
            </a:pPr>
            <a:r>
              <a:t>Allowed domains: search, follow links, scroll.</a:t>
            </a:r>
          </a:p>
        </p:txBody>
      </p:sp>
      <p:cxnSp>
        <p:nvCxnSpPr>
          <p:cNvPr id="39" name="concept-flow"/>
          <p:cNvCxnSpPr/>
          <p:nvPr/>
        </p:nvCxnSpPr>
        <p:spPr>
          <a:xfrm>
            <a:off x="7391400" y="4495800"/>
            <a:ext cx="0" cy="546100"/>
          </a:xfrm>
          <a:prstGeom prst="line">
            <a:avLst/>
          </a:prstGeom>
          <a:ln w="21590">
            <a:solidFill>
              <a:srgbClr val="007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cept-flow"/>
          <p:cNvCxnSpPr/>
          <p:nvPr/>
        </p:nvCxnSpPr>
        <p:spPr>
          <a:xfrm flipV="1">
            <a:off x="7772400" y="4495800"/>
            <a:ext cx="0" cy="546100"/>
          </a:xfrm>
          <a:prstGeom prst="line">
            <a:avLst/>
          </a:prstGeom>
          <a:ln w="21590">
            <a:solidFill>
              <a:srgbClr val="007A6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ducational-text"/>
          <p:cNvSpPr txBox="1"/>
          <p:nvPr/>
        </p:nvSpPr>
        <p:spPr>
          <a:xfrm>
            <a:off x="5422900" y="4673600"/>
            <a:ext cx="18415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007A6E"/>
                </a:solidFill>
                <a:latin typeface="Segoe UI"/>
              </a:defRPr>
            </a:pPr>
            <a:r>
              <a:t>Observe / decide / act</a:t>
            </a:r>
          </a:p>
        </p:txBody>
      </p:sp>
      <p:sp>
        <p:nvSpPr>
          <p:cNvPr id="42" name="concept-node"/>
          <p:cNvSpPr/>
          <p:nvPr/>
        </p:nvSpPr>
        <p:spPr>
          <a:xfrm>
            <a:off x="9677400" y="4889500"/>
            <a:ext cx="2057400" cy="96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ucational-text"/>
          <p:cNvSpPr txBox="1"/>
          <p:nvPr/>
        </p:nvSpPr>
        <p:spPr>
          <a:xfrm>
            <a:off x="9804400" y="5003800"/>
            <a:ext cx="1803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Human decision</a:t>
            </a:r>
          </a:p>
        </p:txBody>
      </p:sp>
      <p:sp>
        <p:nvSpPr>
          <p:cNvPr id="44" name="educational-text"/>
          <p:cNvSpPr txBox="1"/>
          <p:nvPr/>
        </p:nvSpPr>
        <p:spPr>
          <a:xfrm>
            <a:off x="9804400" y="5410200"/>
            <a:ext cx="18034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201F1E"/>
                </a:solidFill>
                <a:latin typeface="Segoe UI"/>
              </a:defRPr>
            </a:pPr>
            <a:r>
              <a:t>Cart simulation only;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201F1E"/>
                </a:solidFill>
                <a:latin typeface="Segoe UI"/>
              </a:defRPr>
            </a:pPr>
            <a:r>
              <a:t>never checkout.</a:t>
            </a:r>
          </a:p>
        </p:txBody>
      </p:sp>
      <p:cxnSp>
        <p:nvCxnSpPr>
          <p:cNvPr id="45" name="concept-flow"/>
          <p:cNvCxnSpPr/>
          <p:nvPr/>
        </p:nvCxnSpPr>
        <p:spPr>
          <a:xfrm>
            <a:off x="10439400" y="4495800"/>
            <a:ext cx="0" cy="39370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iagram-box"/>
          <p:cNvSpPr/>
          <p:nvPr/>
        </p:nvSpPr>
        <p:spPr>
          <a:xfrm>
            <a:off x="457200" y="5930900"/>
            <a:ext cx="11277600" cy="4318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ucational-text"/>
          <p:cNvSpPr txBox="1"/>
          <p:nvPr/>
        </p:nvSpPr>
        <p:spPr>
          <a:xfrm>
            <a:off x="622300" y="6032500"/>
            <a:ext cx="10947400" cy="292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The model chooses questions and bounded actions; application code enforces access limits, provenance and transaction blocks.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-box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gram-box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ucational-text"/>
          <p:cNvSpPr txBox="1"/>
          <p:nvPr/>
        </p:nvSpPr>
        <p:spPr>
          <a:xfrm>
            <a:off x="457200" y="254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0078D4"/>
                </a:solidFill>
                <a:latin typeface="Segoe UI Semibold"/>
              </a:defRPr>
            </a:pPr>
            <a:r>
              <a:t>03 / NUMBERED REQUEST AND RESPONSE FLOW</a:t>
            </a:r>
          </a:p>
        </p:txBody>
      </p:sp>
      <p:sp>
        <p:nvSpPr>
          <p:cNvPr id="5" name="educational-text"/>
          <p:cNvSpPr txBox="1"/>
          <p:nvPr/>
        </p:nvSpPr>
        <p:spPr>
          <a:xfrm>
            <a:off x="457200" y="558800"/>
            <a:ext cx="112776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500">
                <a:solidFill>
                  <a:srgbClr val="0B1E3F"/>
                </a:solidFill>
                <a:latin typeface="Segoe UI Semibold"/>
              </a:defRPr>
            </a:pPr>
            <a:r>
              <a:t>One research request, several accountable components</a:t>
            </a:r>
          </a:p>
        </p:txBody>
      </p:sp>
      <p:sp>
        <p:nvSpPr>
          <p:cNvPr id="6" name="educational-text"/>
          <p:cNvSpPr txBox="1"/>
          <p:nvPr/>
        </p:nvSpPr>
        <p:spPr>
          <a:xfrm>
            <a:off x="457200" y="1117600"/>
            <a:ext cx="112776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05E5C"/>
                </a:solidFill>
                <a:latin typeface="Segoe UI"/>
              </a:defRPr>
            </a:pPr>
            <a:r>
              <a:t>This sequence explains responsibility, not a claim that the whole workflow is one model call.</a:t>
            </a:r>
          </a:p>
        </p:txBody>
      </p:sp>
      <p:sp>
        <p:nvSpPr>
          <p:cNvPr id="7" name="educational-text"/>
          <p:cNvSpPr txBox="1"/>
          <p:nvPr/>
        </p:nvSpPr>
        <p:spPr>
          <a:xfrm>
            <a:off x="457200" y="6591300"/>
            <a:ext cx="96520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605E5C"/>
                </a:solidFill>
                <a:latin typeface="Segoe UI"/>
              </a:defRPr>
            </a:pPr>
            <a:r>
              <a:t>Solution concept | Current prototype | 21 October 2026</a:t>
            </a:r>
          </a:p>
        </p:txBody>
      </p:sp>
      <p:sp>
        <p:nvSpPr>
          <p:cNvPr id="8" name="educational-text"/>
          <p:cNvSpPr txBox="1"/>
          <p:nvPr/>
        </p:nvSpPr>
        <p:spPr>
          <a:xfrm>
            <a:off x="11176000" y="6565900"/>
            <a:ext cx="5588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605E5C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educational-text">
            <a:hlinkClick r:id="rId2"/>
          </p:cNvPr>
          <p:cNvSpPr txBox="1"/>
          <p:nvPr/>
        </p:nvSpPr>
        <p:spPr>
          <a:xfrm>
            <a:off x="457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Toolbox</a:t>
            </a:r>
          </a:p>
        </p:txBody>
      </p:sp>
      <p:sp>
        <p:nvSpPr>
          <p:cNvPr id="10" name="educational-text">
            <a:hlinkClick r:id="rId3"/>
          </p:cNvPr>
          <p:cNvSpPr txBox="1"/>
          <p:nvPr/>
        </p:nvSpPr>
        <p:spPr>
          <a:xfrm>
            <a:off x="2743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Blob identity</a:t>
            </a:r>
          </a:p>
        </p:txBody>
      </p:sp>
      <p:sp>
        <p:nvSpPr>
          <p:cNvPr id="11" name="educational-text">
            <a:hlinkClick r:id="rId4"/>
          </p:cNvPr>
          <p:cNvSpPr txBox="1"/>
          <p:nvPr/>
        </p:nvSpPr>
        <p:spPr>
          <a:xfrm>
            <a:off x="5029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Azure icons</a:t>
            </a:r>
          </a:p>
        </p:txBody>
      </p:sp>
      <p:sp>
        <p:nvSpPr>
          <p:cNvPr id="12" name="diagram-box"/>
          <p:cNvSpPr/>
          <p:nvPr/>
        </p:nvSpPr>
        <p:spPr>
          <a:xfrm>
            <a:off x="457200" y="1689100"/>
            <a:ext cx="1930400" cy="431800"/>
          </a:xfrm>
          <a:prstGeom prst="roundRect">
            <a:avLst>
              <a:gd name="adj" fmla="val 6000"/>
            </a:avLst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ucational-text"/>
          <p:cNvSpPr txBox="1"/>
          <p:nvPr/>
        </p:nvSpPr>
        <p:spPr>
          <a:xfrm>
            <a:off x="533400" y="1816100"/>
            <a:ext cx="1778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FFFFFF"/>
                </a:solidFill>
                <a:latin typeface="Segoe UI Semibold"/>
              </a:defRPr>
            </a:pPr>
            <a:r>
              <a:t>User</a:t>
            </a:r>
          </a:p>
        </p:txBody>
      </p:sp>
      <p:cxnSp>
        <p:nvCxnSpPr>
          <p:cNvPr id="14" name="concept-flow"/>
          <p:cNvCxnSpPr/>
          <p:nvPr/>
        </p:nvCxnSpPr>
        <p:spPr>
          <a:xfrm>
            <a:off x="1422400" y="2146300"/>
            <a:ext cx="0" cy="3619500"/>
          </a:xfrm>
          <a:prstGeom prst="line">
            <a:avLst/>
          </a:prstGeom>
          <a:ln w="21590">
            <a:solidFill>
              <a:srgbClr val="DDE4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gram-box"/>
          <p:cNvSpPr/>
          <p:nvPr/>
        </p:nvSpPr>
        <p:spPr>
          <a:xfrm>
            <a:off x="2794000" y="1689100"/>
            <a:ext cx="1930400" cy="431800"/>
          </a:xfrm>
          <a:prstGeom prst="roundRect">
            <a:avLst>
              <a:gd name="adj" fmla="val 6000"/>
            </a:avLst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gram-box"/>
          <p:cNvSpPr/>
          <p:nvPr/>
        </p:nvSpPr>
        <p:spPr>
          <a:xfrm>
            <a:off x="2857500" y="17399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azure-icon-container-apps-environment" descr="Official Microsoft icon: container-apps-environm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600" y="1778000"/>
            <a:ext cx="254000" cy="254000"/>
          </a:xfrm>
          <a:prstGeom prst="rect">
            <a:avLst/>
          </a:prstGeom>
        </p:spPr>
      </p:pic>
      <p:sp>
        <p:nvSpPr>
          <p:cNvPr id="18" name="educational-text"/>
          <p:cNvSpPr txBox="1"/>
          <p:nvPr/>
        </p:nvSpPr>
        <p:spPr>
          <a:xfrm>
            <a:off x="3263900" y="1816100"/>
            <a:ext cx="13843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FFFFFF"/>
                </a:solidFill>
                <a:latin typeface="Segoe UI Semibold"/>
              </a:defRPr>
            </a:pPr>
            <a:r>
              <a:t>Container Apps</a:t>
            </a:r>
          </a:p>
        </p:txBody>
      </p:sp>
      <p:cxnSp>
        <p:nvCxnSpPr>
          <p:cNvPr id="19" name="concept-flow"/>
          <p:cNvCxnSpPr/>
          <p:nvPr/>
        </p:nvCxnSpPr>
        <p:spPr>
          <a:xfrm>
            <a:off x="3759200" y="2146300"/>
            <a:ext cx="0" cy="3619500"/>
          </a:xfrm>
          <a:prstGeom prst="line">
            <a:avLst/>
          </a:prstGeom>
          <a:ln w="21590">
            <a:solidFill>
              <a:srgbClr val="DDE4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gram-box"/>
          <p:cNvSpPr/>
          <p:nvPr/>
        </p:nvSpPr>
        <p:spPr>
          <a:xfrm>
            <a:off x="5130800" y="1689100"/>
            <a:ext cx="1930400" cy="431800"/>
          </a:xfrm>
          <a:prstGeom prst="roundRect">
            <a:avLst>
              <a:gd name="adj" fmla="val 6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gram-box"/>
          <p:cNvSpPr/>
          <p:nvPr/>
        </p:nvSpPr>
        <p:spPr>
          <a:xfrm>
            <a:off x="5194300" y="17399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azure-icon-foundry-models" descr="Official Microsoft icon: foundry-model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2400" y="1778000"/>
            <a:ext cx="254000" cy="254000"/>
          </a:xfrm>
          <a:prstGeom prst="rect">
            <a:avLst/>
          </a:prstGeom>
        </p:spPr>
      </p:pic>
      <p:sp>
        <p:nvSpPr>
          <p:cNvPr id="23" name="educational-text"/>
          <p:cNvSpPr txBox="1"/>
          <p:nvPr/>
        </p:nvSpPr>
        <p:spPr>
          <a:xfrm>
            <a:off x="5600700" y="1816100"/>
            <a:ext cx="13843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FFFFFF"/>
                </a:solidFill>
                <a:latin typeface="Segoe UI Semibold"/>
              </a:defRPr>
            </a:pPr>
            <a:r>
              <a:t>Foundry Models</a:t>
            </a:r>
          </a:p>
        </p:txBody>
      </p:sp>
      <p:cxnSp>
        <p:nvCxnSpPr>
          <p:cNvPr id="24" name="concept-flow"/>
          <p:cNvCxnSpPr/>
          <p:nvPr/>
        </p:nvCxnSpPr>
        <p:spPr>
          <a:xfrm>
            <a:off x="6096000" y="2146300"/>
            <a:ext cx="0" cy="3619500"/>
          </a:xfrm>
          <a:prstGeom prst="line">
            <a:avLst/>
          </a:prstGeom>
          <a:ln w="21590">
            <a:solidFill>
              <a:srgbClr val="DDE4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gram-box"/>
          <p:cNvSpPr/>
          <p:nvPr/>
        </p:nvSpPr>
        <p:spPr>
          <a:xfrm>
            <a:off x="7467600" y="1689100"/>
            <a:ext cx="1930400" cy="431800"/>
          </a:xfrm>
          <a:prstGeom prst="roundRect">
            <a:avLst>
              <a:gd name="adj" fmla="val 6000"/>
            </a:avLst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ucational-text"/>
          <p:cNvSpPr txBox="1"/>
          <p:nvPr/>
        </p:nvSpPr>
        <p:spPr>
          <a:xfrm>
            <a:off x="7543800" y="1816100"/>
            <a:ext cx="1778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FFFFFF"/>
                </a:solidFill>
                <a:latin typeface="Segoe UI Semibold"/>
              </a:defRPr>
            </a:pPr>
            <a:r>
              <a:t>Search / inspector</a:t>
            </a:r>
          </a:p>
        </p:txBody>
      </p:sp>
      <p:cxnSp>
        <p:nvCxnSpPr>
          <p:cNvPr id="27" name="concept-flow"/>
          <p:cNvCxnSpPr/>
          <p:nvPr/>
        </p:nvCxnSpPr>
        <p:spPr>
          <a:xfrm>
            <a:off x="8432800" y="2146300"/>
            <a:ext cx="0" cy="3619500"/>
          </a:xfrm>
          <a:prstGeom prst="line">
            <a:avLst/>
          </a:prstGeom>
          <a:ln w="21590">
            <a:solidFill>
              <a:srgbClr val="DDE4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gram-box"/>
          <p:cNvSpPr/>
          <p:nvPr/>
        </p:nvSpPr>
        <p:spPr>
          <a:xfrm>
            <a:off x="9804400" y="1689100"/>
            <a:ext cx="1930400" cy="431800"/>
          </a:xfrm>
          <a:prstGeom prst="roundRect">
            <a:avLst>
              <a:gd name="adj" fmla="val 6000"/>
            </a:avLst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gram-box"/>
          <p:cNvSpPr/>
          <p:nvPr/>
        </p:nvSpPr>
        <p:spPr>
          <a:xfrm>
            <a:off x="9867900" y="17399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azure-icon-storage-account" descr="Official Microsoft icon: storage-accoun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0" y="1778000"/>
            <a:ext cx="254000" cy="254000"/>
          </a:xfrm>
          <a:prstGeom prst="rect">
            <a:avLst/>
          </a:prstGeom>
        </p:spPr>
      </p:pic>
      <p:sp>
        <p:nvSpPr>
          <p:cNvPr id="31" name="educational-text"/>
          <p:cNvSpPr txBox="1"/>
          <p:nvPr/>
        </p:nvSpPr>
        <p:spPr>
          <a:xfrm>
            <a:off x="10274300" y="1816100"/>
            <a:ext cx="13843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FFFFFF"/>
                </a:solidFill>
                <a:latin typeface="Segoe UI Semibold"/>
              </a:defRPr>
            </a:pPr>
            <a:r>
              <a:t>Storage / Blob</a:t>
            </a:r>
          </a:p>
        </p:txBody>
      </p:sp>
      <p:cxnSp>
        <p:nvCxnSpPr>
          <p:cNvPr id="32" name="concept-flow"/>
          <p:cNvCxnSpPr/>
          <p:nvPr/>
        </p:nvCxnSpPr>
        <p:spPr>
          <a:xfrm>
            <a:off x="10769600" y="2146300"/>
            <a:ext cx="0" cy="3619500"/>
          </a:xfrm>
          <a:prstGeom prst="line">
            <a:avLst/>
          </a:prstGeom>
          <a:ln w="21590">
            <a:solidFill>
              <a:srgbClr val="DDE4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ducational-text"/>
          <p:cNvSpPr txBox="1"/>
          <p:nvPr/>
        </p:nvSpPr>
        <p:spPr>
          <a:xfrm>
            <a:off x="1485900" y="2133600"/>
            <a:ext cx="22098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URL + intent + method</a:t>
            </a:r>
          </a:p>
        </p:txBody>
      </p:sp>
      <p:cxnSp>
        <p:nvCxnSpPr>
          <p:cNvPr id="34" name="concept-flow"/>
          <p:cNvCxnSpPr/>
          <p:nvPr/>
        </p:nvCxnSpPr>
        <p:spPr>
          <a:xfrm>
            <a:off x="1422400" y="2413000"/>
            <a:ext cx="2336800" cy="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number"/>
          <p:cNvSpPr/>
          <p:nvPr/>
        </p:nvSpPr>
        <p:spPr>
          <a:xfrm>
            <a:off x="1308100" y="2298700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ucational-text"/>
          <p:cNvSpPr txBox="1"/>
          <p:nvPr/>
        </p:nvSpPr>
        <p:spPr>
          <a:xfrm>
            <a:off x="1320800" y="23317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37" name="educational-text"/>
          <p:cNvSpPr txBox="1"/>
          <p:nvPr/>
        </p:nvSpPr>
        <p:spPr>
          <a:xfrm>
            <a:off x="3822700" y="2489200"/>
            <a:ext cx="45466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Inspect initial product listing</a:t>
            </a:r>
          </a:p>
        </p:txBody>
      </p:sp>
      <p:cxnSp>
        <p:nvCxnSpPr>
          <p:cNvPr id="38" name="concept-flow"/>
          <p:cNvCxnSpPr/>
          <p:nvPr/>
        </p:nvCxnSpPr>
        <p:spPr>
          <a:xfrm>
            <a:off x="3759200" y="2768600"/>
            <a:ext cx="4673600" cy="0"/>
          </a:xfrm>
          <a:prstGeom prst="line">
            <a:avLst/>
          </a:prstGeom>
          <a:ln w="21590">
            <a:solidFill>
              <a:srgbClr val="5C2D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low-number"/>
          <p:cNvSpPr/>
          <p:nvPr/>
        </p:nvSpPr>
        <p:spPr>
          <a:xfrm>
            <a:off x="3644900" y="2654300"/>
            <a:ext cx="228600" cy="22860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ucational-text"/>
          <p:cNvSpPr txBox="1"/>
          <p:nvPr/>
        </p:nvSpPr>
        <p:spPr>
          <a:xfrm>
            <a:off x="3657600" y="26873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41" name="educational-text"/>
          <p:cNvSpPr txBox="1"/>
          <p:nvPr/>
        </p:nvSpPr>
        <p:spPr>
          <a:xfrm>
            <a:off x="3822700" y="2844800"/>
            <a:ext cx="45466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Observed identity, claims and available capture</a:t>
            </a:r>
          </a:p>
        </p:txBody>
      </p:sp>
      <p:cxnSp>
        <p:nvCxnSpPr>
          <p:cNvPr id="42" name="concept-flow"/>
          <p:cNvCxnSpPr/>
          <p:nvPr/>
        </p:nvCxnSpPr>
        <p:spPr>
          <a:xfrm flipH="1">
            <a:off x="3759200" y="3124200"/>
            <a:ext cx="4673600" cy="0"/>
          </a:xfrm>
          <a:prstGeom prst="line">
            <a:avLst/>
          </a:prstGeom>
          <a:ln w="21590">
            <a:solidFill>
              <a:srgbClr val="5C2D9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low-number"/>
          <p:cNvSpPr/>
          <p:nvPr/>
        </p:nvSpPr>
        <p:spPr>
          <a:xfrm>
            <a:off x="8318500" y="3009900"/>
            <a:ext cx="228600" cy="22860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ucational-text"/>
          <p:cNvSpPr txBox="1"/>
          <p:nvPr/>
        </p:nvSpPr>
        <p:spPr>
          <a:xfrm>
            <a:off x="8331200" y="30429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45" name="educational-text"/>
          <p:cNvSpPr txBox="1"/>
          <p:nvPr/>
        </p:nvSpPr>
        <p:spPr>
          <a:xfrm>
            <a:off x="3822700" y="3200400"/>
            <a:ext cx="22098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Plan buyer-specific queries</a:t>
            </a:r>
          </a:p>
        </p:txBody>
      </p:sp>
      <p:cxnSp>
        <p:nvCxnSpPr>
          <p:cNvPr id="46" name="concept-flow"/>
          <p:cNvCxnSpPr/>
          <p:nvPr/>
        </p:nvCxnSpPr>
        <p:spPr>
          <a:xfrm>
            <a:off x="3759200" y="3479800"/>
            <a:ext cx="2336800" cy="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low-number"/>
          <p:cNvSpPr/>
          <p:nvPr/>
        </p:nvSpPr>
        <p:spPr>
          <a:xfrm>
            <a:off x="3644900" y="3365500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ucational-text"/>
          <p:cNvSpPr txBox="1"/>
          <p:nvPr/>
        </p:nvSpPr>
        <p:spPr>
          <a:xfrm>
            <a:off x="3657600" y="33985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4</a:t>
            </a:r>
          </a:p>
        </p:txBody>
      </p:sp>
      <p:sp>
        <p:nvSpPr>
          <p:cNvPr id="49" name="educational-text"/>
          <p:cNvSpPr txBox="1"/>
          <p:nvPr/>
        </p:nvSpPr>
        <p:spPr>
          <a:xfrm>
            <a:off x="3822700" y="3556000"/>
            <a:ext cx="45466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Search; inspect eligible reviews; bounded follow-up</a:t>
            </a:r>
          </a:p>
        </p:txBody>
      </p:sp>
      <p:cxnSp>
        <p:nvCxnSpPr>
          <p:cNvPr id="50" name="concept-flow"/>
          <p:cNvCxnSpPr/>
          <p:nvPr/>
        </p:nvCxnSpPr>
        <p:spPr>
          <a:xfrm>
            <a:off x="3759200" y="3835400"/>
            <a:ext cx="4673600" cy="0"/>
          </a:xfrm>
          <a:prstGeom prst="line">
            <a:avLst/>
          </a:prstGeom>
          <a:ln w="21590">
            <a:solidFill>
              <a:srgbClr val="5C2D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low-number"/>
          <p:cNvSpPr/>
          <p:nvPr/>
        </p:nvSpPr>
        <p:spPr>
          <a:xfrm>
            <a:off x="3644900" y="3721100"/>
            <a:ext cx="228600" cy="22860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ucational-text"/>
          <p:cNvSpPr txBox="1"/>
          <p:nvPr/>
        </p:nvSpPr>
        <p:spPr>
          <a:xfrm>
            <a:off x="3657600" y="37541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5</a:t>
            </a:r>
          </a:p>
        </p:txBody>
      </p:sp>
      <p:sp>
        <p:nvSpPr>
          <p:cNvPr id="53" name="educational-text"/>
          <p:cNvSpPr txBox="1"/>
          <p:nvPr/>
        </p:nvSpPr>
        <p:spPr>
          <a:xfrm>
            <a:off x="3822700" y="3911600"/>
            <a:ext cx="45466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Attributed context + access status + eligible PNGs</a:t>
            </a:r>
          </a:p>
        </p:txBody>
      </p:sp>
      <p:cxnSp>
        <p:nvCxnSpPr>
          <p:cNvPr id="54" name="concept-flow"/>
          <p:cNvCxnSpPr/>
          <p:nvPr/>
        </p:nvCxnSpPr>
        <p:spPr>
          <a:xfrm flipH="1">
            <a:off x="3759200" y="4191000"/>
            <a:ext cx="4673600" cy="0"/>
          </a:xfrm>
          <a:prstGeom prst="line">
            <a:avLst/>
          </a:prstGeom>
          <a:ln w="21590">
            <a:solidFill>
              <a:srgbClr val="5C2D9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low-number"/>
          <p:cNvSpPr/>
          <p:nvPr/>
        </p:nvSpPr>
        <p:spPr>
          <a:xfrm>
            <a:off x="8318500" y="4076700"/>
            <a:ext cx="228600" cy="22860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ucational-text"/>
          <p:cNvSpPr txBox="1"/>
          <p:nvPr/>
        </p:nvSpPr>
        <p:spPr>
          <a:xfrm>
            <a:off x="8331200" y="41097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6</a:t>
            </a:r>
          </a:p>
        </p:txBody>
      </p:sp>
      <p:sp>
        <p:nvSpPr>
          <p:cNvPr id="57" name="educational-text"/>
          <p:cNvSpPr txBox="1"/>
          <p:nvPr/>
        </p:nvSpPr>
        <p:spPr>
          <a:xfrm>
            <a:off x="3822700" y="4267200"/>
            <a:ext cx="22098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Reconcile claims; state gaps</a:t>
            </a:r>
          </a:p>
        </p:txBody>
      </p:sp>
      <p:cxnSp>
        <p:nvCxnSpPr>
          <p:cNvPr id="58" name="concept-flow"/>
          <p:cNvCxnSpPr/>
          <p:nvPr/>
        </p:nvCxnSpPr>
        <p:spPr>
          <a:xfrm>
            <a:off x="3759200" y="4546600"/>
            <a:ext cx="2336800" cy="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low-number"/>
          <p:cNvSpPr/>
          <p:nvPr/>
        </p:nvSpPr>
        <p:spPr>
          <a:xfrm>
            <a:off x="3644900" y="4432300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ucational-text"/>
          <p:cNvSpPr txBox="1"/>
          <p:nvPr/>
        </p:nvSpPr>
        <p:spPr>
          <a:xfrm>
            <a:off x="3657600" y="44653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7</a:t>
            </a:r>
          </a:p>
        </p:txBody>
      </p:sp>
      <p:sp>
        <p:nvSpPr>
          <p:cNvPr id="61" name="educational-text"/>
          <p:cNvSpPr txBox="1"/>
          <p:nvPr/>
        </p:nvSpPr>
        <p:spPr>
          <a:xfrm>
            <a:off x="3822700" y="4622800"/>
            <a:ext cx="68834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Checkpoints during run; final generated brief</a:t>
            </a:r>
          </a:p>
        </p:txBody>
      </p:sp>
      <p:cxnSp>
        <p:nvCxnSpPr>
          <p:cNvPr id="62" name="concept-flow"/>
          <p:cNvCxnSpPr/>
          <p:nvPr/>
        </p:nvCxnSpPr>
        <p:spPr>
          <a:xfrm>
            <a:off x="3759200" y="4902200"/>
            <a:ext cx="7010400" cy="0"/>
          </a:xfrm>
          <a:prstGeom prst="line">
            <a:avLst/>
          </a:prstGeom>
          <a:ln w="21590">
            <a:solidFill>
              <a:srgbClr val="007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low-number"/>
          <p:cNvSpPr/>
          <p:nvPr/>
        </p:nvSpPr>
        <p:spPr>
          <a:xfrm>
            <a:off x="3644900" y="4787900"/>
            <a:ext cx="228600" cy="228600"/>
          </a:xfrm>
          <a:prstGeom prst="ellipse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ucational-text"/>
          <p:cNvSpPr txBox="1"/>
          <p:nvPr/>
        </p:nvSpPr>
        <p:spPr>
          <a:xfrm>
            <a:off x="3657600" y="48209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8</a:t>
            </a:r>
          </a:p>
        </p:txBody>
      </p:sp>
      <p:sp>
        <p:nvSpPr>
          <p:cNvPr id="65" name="educational-text"/>
          <p:cNvSpPr txBox="1"/>
          <p:nvPr/>
        </p:nvSpPr>
        <p:spPr>
          <a:xfrm>
            <a:off x="3822700" y="4978400"/>
            <a:ext cx="68834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Saved run + retained original evidence</a:t>
            </a:r>
          </a:p>
        </p:txBody>
      </p:sp>
      <p:cxnSp>
        <p:nvCxnSpPr>
          <p:cNvPr id="66" name="concept-flow"/>
          <p:cNvCxnSpPr/>
          <p:nvPr/>
        </p:nvCxnSpPr>
        <p:spPr>
          <a:xfrm flipH="1">
            <a:off x="3759200" y="5257800"/>
            <a:ext cx="7010400" cy="0"/>
          </a:xfrm>
          <a:prstGeom prst="line">
            <a:avLst/>
          </a:prstGeom>
          <a:ln w="21590">
            <a:solidFill>
              <a:srgbClr val="007A6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ow-number"/>
          <p:cNvSpPr/>
          <p:nvPr/>
        </p:nvSpPr>
        <p:spPr>
          <a:xfrm>
            <a:off x="10655300" y="5143500"/>
            <a:ext cx="228600" cy="228600"/>
          </a:xfrm>
          <a:prstGeom prst="ellipse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ucational-text"/>
          <p:cNvSpPr txBox="1"/>
          <p:nvPr/>
        </p:nvSpPr>
        <p:spPr>
          <a:xfrm>
            <a:off x="10668000" y="51765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9</a:t>
            </a:r>
          </a:p>
        </p:txBody>
      </p:sp>
      <p:sp>
        <p:nvSpPr>
          <p:cNvPr id="69" name="educational-text"/>
          <p:cNvSpPr txBox="1"/>
          <p:nvPr/>
        </p:nvSpPr>
        <p:spPr>
          <a:xfrm>
            <a:off x="1485900" y="5334000"/>
            <a:ext cx="22098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Brief + protected follow-up</a:t>
            </a:r>
          </a:p>
        </p:txBody>
      </p:sp>
      <p:cxnSp>
        <p:nvCxnSpPr>
          <p:cNvPr id="70" name="concept-flow"/>
          <p:cNvCxnSpPr/>
          <p:nvPr/>
        </p:nvCxnSpPr>
        <p:spPr>
          <a:xfrm flipH="1">
            <a:off x="1422400" y="5613400"/>
            <a:ext cx="2336800" cy="0"/>
          </a:xfrm>
          <a:prstGeom prst="line">
            <a:avLst/>
          </a:prstGeom>
          <a:ln w="21590">
            <a:solidFill>
              <a:srgbClr val="0078D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low-number"/>
          <p:cNvSpPr/>
          <p:nvPr/>
        </p:nvSpPr>
        <p:spPr>
          <a:xfrm>
            <a:off x="3644900" y="5499100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ucational-text"/>
          <p:cNvSpPr txBox="1"/>
          <p:nvPr/>
        </p:nvSpPr>
        <p:spPr>
          <a:xfrm>
            <a:off x="3657600" y="5532120"/>
            <a:ext cx="2032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FFFFFF"/>
                </a:solidFill>
                <a:latin typeface="Segoe UI Semibold"/>
              </a:defRPr>
            </a:pPr>
            <a:r>
              <a:t>10</a:t>
            </a:r>
          </a:p>
        </p:txBody>
      </p:sp>
      <p:sp>
        <p:nvSpPr>
          <p:cNvPr id="73" name="diagram-box"/>
          <p:cNvSpPr/>
          <p:nvPr/>
        </p:nvSpPr>
        <p:spPr>
          <a:xfrm>
            <a:off x="457200" y="5930900"/>
            <a:ext cx="11277600" cy="4318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ucational-text"/>
          <p:cNvSpPr txBox="1"/>
          <p:nvPr/>
        </p:nvSpPr>
        <p:spPr>
          <a:xfrm>
            <a:off x="622300" y="6032500"/>
            <a:ext cx="10947400" cy="292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SSE progress streams throughout steps 2-9. Reopening saved research is a read, not another paid research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-box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gram-box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ucational-text"/>
          <p:cNvSpPr txBox="1"/>
          <p:nvPr/>
        </p:nvSpPr>
        <p:spPr>
          <a:xfrm>
            <a:off x="457200" y="254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0078D4"/>
                </a:solidFill>
                <a:latin typeface="Segoe UI Semibold"/>
              </a:defRPr>
            </a:pPr>
            <a:r>
              <a:t>04 / TWO INDEPENDENT ROUTING CHOICES</a:t>
            </a:r>
          </a:p>
        </p:txBody>
      </p:sp>
      <p:sp>
        <p:nvSpPr>
          <p:cNvPr id="5" name="educational-text"/>
          <p:cNvSpPr txBox="1"/>
          <p:nvPr/>
        </p:nvSpPr>
        <p:spPr>
          <a:xfrm>
            <a:off x="457200" y="558800"/>
            <a:ext cx="112776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500">
                <a:solidFill>
                  <a:srgbClr val="0B1E3F"/>
                </a:solidFill>
                <a:latin typeface="Segoe UI Semibold"/>
              </a:defRPr>
            </a:pPr>
            <a:r>
              <a:t>Five research paths, not five different agents</a:t>
            </a:r>
          </a:p>
        </p:txBody>
      </p:sp>
      <p:sp>
        <p:nvSpPr>
          <p:cNvPr id="6" name="educational-text"/>
          <p:cNvSpPr txBox="1"/>
          <p:nvPr/>
        </p:nvSpPr>
        <p:spPr>
          <a:xfrm>
            <a:off x="457200" y="1117600"/>
            <a:ext cx="112776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05E5C"/>
                </a:solidFill>
                <a:latin typeface="Segoe UI"/>
              </a:defRPr>
            </a:pPr>
            <a:r>
              <a:t>Choose discovery separately from where and how the listing/review pages are inspected.</a:t>
            </a:r>
          </a:p>
        </p:txBody>
      </p:sp>
      <p:sp>
        <p:nvSpPr>
          <p:cNvPr id="7" name="educational-text"/>
          <p:cNvSpPr txBox="1"/>
          <p:nvPr/>
        </p:nvSpPr>
        <p:spPr>
          <a:xfrm>
            <a:off x="457200" y="6591300"/>
            <a:ext cx="96520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605E5C"/>
                </a:solidFill>
                <a:latin typeface="Segoe UI"/>
              </a:defRPr>
            </a:pPr>
            <a:r>
              <a:t>Solution concept | Current prototype | 21 October 2026</a:t>
            </a:r>
          </a:p>
        </p:txBody>
      </p:sp>
      <p:sp>
        <p:nvSpPr>
          <p:cNvPr id="8" name="educational-text"/>
          <p:cNvSpPr txBox="1"/>
          <p:nvPr/>
        </p:nvSpPr>
        <p:spPr>
          <a:xfrm>
            <a:off x="11176000" y="6565900"/>
            <a:ext cx="5588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605E5C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9" name="educational-text">
            <a:hlinkClick r:id="rId2"/>
          </p:cNvPr>
          <p:cNvSpPr txBox="1"/>
          <p:nvPr/>
        </p:nvSpPr>
        <p:spPr>
          <a:xfrm>
            <a:off x="457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Toolbox</a:t>
            </a:r>
          </a:p>
        </p:txBody>
      </p:sp>
      <p:sp>
        <p:nvSpPr>
          <p:cNvPr id="10" name="educational-text">
            <a:hlinkClick r:id="rId3"/>
          </p:cNvPr>
          <p:cNvSpPr txBox="1"/>
          <p:nvPr/>
        </p:nvSpPr>
        <p:spPr>
          <a:xfrm>
            <a:off x="2743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Azure icons</a:t>
            </a:r>
          </a:p>
        </p:txBody>
      </p:sp>
      <p:sp>
        <p:nvSpPr>
          <p:cNvPr id="11" name="responsibility-group"/>
          <p:cNvSpPr/>
          <p:nvPr/>
        </p:nvSpPr>
        <p:spPr>
          <a:xfrm>
            <a:off x="457200" y="1701800"/>
            <a:ext cx="5257800" cy="25019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0160">
            <a:solidFill>
              <a:srgbClr val="5C2D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ucational-text"/>
          <p:cNvSpPr txBox="1"/>
          <p:nvPr/>
        </p:nvSpPr>
        <p:spPr>
          <a:xfrm>
            <a:off x="571500" y="1778000"/>
            <a:ext cx="50292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30">
                <a:solidFill>
                  <a:srgbClr val="5C2D91"/>
                </a:solidFill>
                <a:latin typeface="Segoe UI Semibold"/>
              </a:defRPr>
            </a:pPr>
            <a:r>
              <a:t>A  REVIEW DISCOVERY</a:t>
            </a:r>
          </a:p>
        </p:txBody>
      </p:sp>
      <p:sp>
        <p:nvSpPr>
          <p:cNvPr id="13" name="concept-node"/>
          <p:cNvSpPr/>
          <p:nvPr/>
        </p:nvSpPr>
        <p:spPr>
          <a:xfrm>
            <a:off x="660400" y="2603500"/>
            <a:ext cx="2006600" cy="96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ucational-text"/>
          <p:cNvSpPr txBox="1"/>
          <p:nvPr/>
        </p:nvSpPr>
        <p:spPr>
          <a:xfrm>
            <a:off x="787400" y="2717800"/>
            <a:ext cx="175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5C2D91"/>
                </a:solidFill>
                <a:latin typeface="Segoe UI Semibold"/>
              </a:defRPr>
            </a:pPr>
            <a:r>
              <a:t>WebIQ key?</a:t>
            </a:r>
          </a:p>
        </p:txBody>
      </p:sp>
      <p:sp>
        <p:nvSpPr>
          <p:cNvPr id="15" name="educational-text"/>
          <p:cNvSpPr txBox="1"/>
          <p:nvPr/>
        </p:nvSpPr>
        <p:spPr>
          <a:xfrm>
            <a:off x="787400" y="3124200"/>
            <a:ext cx="17526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Request-scoped choice</a:t>
            </a:r>
          </a:p>
        </p:txBody>
      </p:sp>
      <p:sp>
        <p:nvSpPr>
          <p:cNvPr id="16" name="concept-node"/>
          <p:cNvSpPr/>
          <p:nvPr/>
        </p:nvSpPr>
        <p:spPr>
          <a:xfrm>
            <a:off x="3378200" y="2108200"/>
            <a:ext cx="21336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ucational-text"/>
          <p:cNvSpPr txBox="1"/>
          <p:nvPr/>
        </p:nvSpPr>
        <p:spPr>
          <a:xfrm>
            <a:off x="3505200" y="2222500"/>
            <a:ext cx="1879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5C2D91"/>
                </a:solidFill>
                <a:latin typeface="Segoe UI Semibold"/>
              </a:defRPr>
            </a:pPr>
            <a:r>
              <a:t>WebIQ Search</a:t>
            </a:r>
          </a:p>
        </p:txBody>
      </p:sp>
      <p:sp>
        <p:nvSpPr>
          <p:cNvPr id="18" name="educational-text"/>
          <p:cNvSpPr txBox="1"/>
          <p:nvPr/>
        </p:nvSpPr>
        <p:spPr>
          <a:xfrm>
            <a:off x="3505200" y="2628900"/>
            <a:ext cx="1879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201F1E"/>
                </a:solidFill>
                <a:latin typeface="Segoe UI"/>
              </a:defRPr>
            </a:pPr>
            <a:r>
              <a:t>Key supplied</a:t>
            </a:r>
          </a:p>
        </p:txBody>
      </p:sp>
      <p:sp>
        <p:nvSpPr>
          <p:cNvPr id="19" name="concept-node"/>
          <p:cNvSpPr/>
          <p:nvPr/>
        </p:nvSpPr>
        <p:spPr>
          <a:xfrm>
            <a:off x="3378200" y="3200400"/>
            <a:ext cx="21336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azure-icon-toolbox" descr="Official Microsoft icon: toolbo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3327400"/>
            <a:ext cx="355600" cy="355600"/>
          </a:xfrm>
          <a:prstGeom prst="rect">
            <a:avLst/>
          </a:prstGeom>
        </p:spPr>
      </p:pic>
      <p:sp>
        <p:nvSpPr>
          <p:cNvPr id="21" name="educational-text"/>
          <p:cNvSpPr txBox="1"/>
          <p:nvPr/>
        </p:nvSpPr>
        <p:spPr>
          <a:xfrm>
            <a:off x="3962400" y="3314700"/>
            <a:ext cx="1422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5C2D91"/>
                </a:solidFill>
                <a:latin typeface="Segoe UI Semibold"/>
              </a:defRPr>
            </a:pPr>
            <a:r>
              <a:t>Toolbox web_search</a:t>
            </a:r>
          </a:p>
        </p:txBody>
      </p:sp>
      <p:sp>
        <p:nvSpPr>
          <p:cNvPr id="22" name="educational-text"/>
          <p:cNvSpPr txBox="1"/>
          <p:nvPr/>
        </p:nvSpPr>
        <p:spPr>
          <a:xfrm>
            <a:off x="3505200" y="3721100"/>
            <a:ext cx="1879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201F1E"/>
                </a:solidFill>
                <a:latin typeface="Segoe UI"/>
              </a:defRPr>
            </a:pPr>
            <a:r>
              <a:t>No key supplied</a:t>
            </a:r>
          </a:p>
        </p:txBody>
      </p:sp>
      <p:cxnSp>
        <p:nvCxnSpPr>
          <p:cNvPr id="23" name="concept-flow"/>
          <p:cNvCxnSpPr/>
          <p:nvPr/>
        </p:nvCxnSpPr>
        <p:spPr>
          <a:xfrm>
            <a:off x="2667000" y="2895600"/>
            <a:ext cx="355600" cy="0"/>
          </a:xfrm>
          <a:prstGeom prst="line">
            <a:avLst/>
          </a:prstGeom>
          <a:ln w="21590">
            <a:solidFill>
              <a:srgbClr val="5C2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cept-flow"/>
          <p:cNvCxnSpPr/>
          <p:nvPr/>
        </p:nvCxnSpPr>
        <p:spPr>
          <a:xfrm flipV="1">
            <a:off x="3022600" y="2514600"/>
            <a:ext cx="0" cy="381000"/>
          </a:xfrm>
          <a:prstGeom prst="line">
            <a:avLst/>
          </a:prstGeom>
          <a:ln w="21590">
            <a:solidFill>
              <a:srgbClr val="5C2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cept-flow"/>
          <p:cNvCxnSpPr/>
          <p:nvPr/>
        </p:nvCxnSpPr>
        <p:spPr>
          <a:xfrm>
            <a:off x="3022600" y="2514600"/>
            <a:ext cx="355600" cy="0"/>
          </a:xfrm>
          <a:prstGeom prst="line">
            <a:avLst/>
          </a:prstGeom>
          <a:ln w="21590">
            <a:solidFill>
              <a:srgbClr val="5C2D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cept-flow"/>
          <p:cNvCxnSpPr/>
          <p:nvPr/>
        </p:nvCxnSpPr>
        <p:spPr>
          <a:xfrm>
            <a:off x="2667000" y="3225800"/>
            <a:ext cx="355600" cy="0"/>
          </a:xfrm>
          <a:prstGeom prst="line">
            <a:avLst/>
          </a:prstGeom>
          <a:ln w="21590">
            <a:solidFill>
              <a:srgbClr val="5C2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cept-flow"/>
          <p:cNvCxnSpPr/>
          <p:nvPr/>
        </p:nvCxnSpPr>
        <p:spPr>
          <a:xfrm>
            <a:off x="3022600" y="3225800"/>
            <a:ext cx="0" cy="381000"/>
          </a:xfrm>
          <a:prstGeom prst="line">
            <a:avLst/>
          </a:prstGeom>
          <a:ln w="21590">
            <a:solidFill>
              <a:srgbClr val="5C2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cept-flow"/>
          <p:cNvCxnSpPr/>
          <p:nvPr/>
        </p:nvCxnSpPr>
        <p:spPr>
          <a:xfrm>
            <a:off x="3022600" y="3606800"/>
            <a:ext cx="355600" cy="0"/>
          </a:xfrm>
          <a:prstGeom prst="line">
            <a:avLst/>
          </a:prstGeom>
          <a:ln w="21590">
            <a:solidFill>
              <a:srgbClr val="5C2D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sponsibility-group"/>
          <p:cNvSpPr/>
          <p:nvPr/>
        </p:nvSpPr>
        <p:spPr>
          <a:xfrm>
            <a:off x="6019800" y="1701800"/>
            <a:ext cx="5715000" cy="25019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0160">
            <a:solidFill>
              <a:srgbClr val="007A6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ucational-text"/>
          <p:cNvSpPr txBox="1"/>
          <p:nvPr/>
        </p:nvSpPr>
        <p:spPr>
          <a:xfrm>
            <a:off x="6134100" y="1778000"/>
            <a:ext cx="54864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30">
                <a:solidFill>
                  <a:srgbClr val="007A6E"/>
                </a:solidFill>
                <a:latin typeface="Segoe UI Semibold"/>
              </a:defRPr>
            </a:pPr>
            <a:r>
              <a:t>B  CHOOSE ONE INSPECTOR</a:t>
            </a:r>
          </a:p>
        </p:txBody>
      </p:sp>
      <p:sp>
        <p:nvSpPr>
          <p:cNvPr id="31" name="concept-node"/>
          <p:cNvSpPr/>
          <p:nvPr/>
        </p:nvSpPr>
        <p:spPr>
          <a:xfrm>
            <a:off x="6223000" y="2108200"/>
            <a:ext cx="25146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ucational-text"/>
          <p:cNvSpPr txBox="1"/>
          <p:nvPr/>
        </p:nvSpPr>
        <p:spPr>
          <a:xfrm>
            <a:off x="6350000" y="2222500"/>
            <a:ext cx="2260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WebIQ Browse</a:t>
            </a:r>
          </a:p>
        </p:txBody>
      </p:sp>
      <p:sp>
        <p:nvSpPr>
          <p:cNvPr id="33" name="educational-text"/>
          <p:cNvSpPr txBox="1"/>
          <p:nvPr/>
        </p:nvSpPr>
        <p:spPr>
          <a:xfrm>
            <a:off x="6350000" y="2628900"/>
            <a:ext cx="2260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API text; no viewport PNG</a:t>
            </a:r>
          </a:p>
        </p:txBody>
      </p:sp>
      <p:sp>
        <p:nvSpPr>
          <p:cNvPr id="34" name="concept-node"/>
          <p:cNvSpPr/>
          <p:nvPr/>
        </p:nvSpPr>
        <p:spPr>
          <a:xfrm>
            <a:off x="9017000" y="2108200"/>
            <a:ext cx="25146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azure-icon-toolbox" descr="Official Microsoft icon: toolbo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2235200"/>
            <a:ext cx="355600" cy="355600"/>
          </a:xfrm>
          <a:prstGeom prst="rect">
            <a:avLst/>
          </a:prstGeom>
        </p:spPr>
      </p:pic>
      <p:sp>
        <p:nvSpPr>
          <p:cNvPr id="36" name="educational-text"/>
          <p:cNvSpPr txBox="1"/>
          <p:nvPr/>
        </p:nvSpPr>
        <p:spPr>
          <a:xfrm>
            <a:off x="9601200" y="2222500"/>
            <a:ext cx="1803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Azure BAT</a:t>
            </a:r>
          </a:p>
        </p:txBody>
      </p:sp>
      <p:sp>
        <p:nvSpPr>
          <p:cNvPr id="37" name="educational-text"/>
          <p:cNvSpPr txBox="1"/>
          <p:nvPr/>
        </p:nvSpPr>
        <p:spPr>
          <a:xfrm>
            <a:off x="9144000" y="2628900"/>
            <a:ext cx="2260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Foundry Toolbox browser</a:t>
            </a:r>
          </a:p>
        </p:txBody>
      </p:sp>
      <p:sp>
        <p:nvSpPr>
          <p:cNvPr id="38" name="concept-node"/>
          <p:cNvSpPr/>
          <p:nvPr/>
        </p:nvSpPr>
        <p:spPr>
          <a:xfrm>
            <a:off x="6223000" y="3200400"/>
            <a:ext cx="25146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azure-icon-browser" descr="Official Microsoft icon: brows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3327400"/>
            <a:ext cx="355600" cy="355600"/>
          </a:xfrm>
          <a:prstGeom prst="rect">
            <a:avLst/>
          </a:prstGeom>
        </p:spPr>
      </p:pic>
      <p:sp>
        <p:nvSpPr>
          <p:cNvPr id="40" name="educational-text"/>
          <p:cNvSpPr txBox="1"/>
          <p:nvPr/>
        </p:nvSpPr>
        <p:spPr>
          <a:xfrm>
            <a:off x="6807200" y="3314700"/>
            <a:ext cx="1803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Local browser</a:t>
            </a:r>
          </a:p>
        </p:txBody>
      </p:sp>
      <p:sp>
        <p:nvSpPr>
          <p:cNvPr id="41" name="educational-text"/>
          <p:cNvSpPr txBox="1"/>
          <p:nvPr/>
        </p:nvSpPr>
        <p:spPr>
          <a:xfrm>
            <a:off x="6350000" y="3721100"/>
            <a:ext cx="2260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Visitor device + extension</a:t>
            </a:r>
          </a:p>
        </p:txBody>
      </p:sp>
      <p:sp>
        <p:nvSpPr>
          <p:cNvPr id="42" name="concept-node"/>
          <p:cNvSpPr/>
          <p:nvPr/>
        </p:nvSpPr>
        <p:spPr>
          <a:xfrm>
            <a:off x="9017000" y="3200400"/>
            <a:ext cx="2514600" cy="8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azure-icon-virtual-machine" descr="Official Microsoft icon: virtual-machi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3327400"/>
            <a:ext cx="355600" cy="355600"/>
          </a:xfrm>
          <a:prstGeom prst="rect">
            <a:avLst/>
          </a:prstGeom>
        </p:spPr>
      </p:pic>
      <p:sp>
        <p:nvSpPr>
          <p:cNvPr id="44" name="educational-text"/>
          <p:cNvSpPr txBox="1"/>
          <p:nvPr/>
        </p:nvSpPr>
        <p:spPr>
          <a:xfrm>
            <a:off x="9601200" y="3314700"/>
            <a:ext cx="1803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Azure VM + Playwright</a:t>
            </a:r>
          </a:p>
        </p:txBody>
      </p:sp>
      <p:sp>
        <p:nvSpPr>
          <p:cNvPr id="45" name="educational-text"/>
          <p:cNvSpPr txBox="1"/>
          <p:nvPr/>
        </p:nvSpPr>
        <p:spPr>
          <a:xfrm>
            <a:off x="9144000" y="3721100"/>
            <a:ext cx="2260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>
                <a:solidFill>
                  <a:srgbClr val="201F1E"/>
                </a:solidFill>
                <a:latin typeface="Segoe UI"/>
              </a:defRPr>
            </a:pPr>
            <a:r>
              <a:t>Windows worker; polls portal</a:t>
            </a:r>
          </a:p>
        </p:txBody>
      </p:sp>
      <p:sp>
        <p:nvSpPr>
          <p:cNvPr id="46" name="concept-node"/>
          <p:cNvSpPr/>
          <p:nvPr/>
        </p:nvSpPr>
        <p:spPr>
          <a:xfrm>
            <a:off x="457200" y="4508500"/>
            <a:ext cx="112776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ucational-text"/>
          <p:cNvSpPr txBox="1"/>
          <p:nvPr/>
        </p:nvSpPr>
        <p:spPr>
          <a:xfrm>
            <a:off x="584200" y="4622800"/>
            <a:ext cx="11023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C  Review strategy</a:t>
            </a:r>
          </a:p>
        </p:txBody>
      </p:sp>
      <p:sp>
        <p:nvSpPr>
          <p:cNvPr id="48" name="educational-text"/>
          <p:cNvSpPr txBox="1"/>
          <p:nvPr/>
        </p:nvSpPr>
        <p:spPr>
          <a:xfrm>
            <a:off x="584200" y="5029200"/>
            <a:ext cx="11023600" cy="673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201F1E"/>
                </a:solidFill>
                <a:latin typeface="Segoe UI"/>
              </a:defRPr>
            </a:pPr>
            <a:r>
              <a:t>Inspect reviews: reuse the selected inspector after discovery.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201F1E"/>
                </a:solidFill>
                <a:latin typeface="Segoe UI"/>
              </a:defRPr>
            </a:pPr>
            <a:r>
              <a:t>Search-only reviews: inspect the listing, search and synthesize; do not visit review pages.</a:t>
            </a:r>
          </a:p>
        </p:txBody>
      </p:sp>
      <p:sp>
        <p:nvSpPr>
          <p:cNvPr id="49" name="diagram-box"/>
          <p:cNvSpPr/>
          <p:nvPr/>
        </p:nvSpPr>
        <p:spPr>
          <a:xfrm>
            <a:off x="457200" y="5930900"/>
            <a:ext cx="11277600" cy="4318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ucational-text"/>
          <p:cNvSpPr txBox="1"/>
          <p:nvPr/>
        </p:nvSpPr>
        <p:spPr>
          <a:xfrm>
            <a:off x="622300" y="6032500"/>
            <a:ext cx="10947400" cy="292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Local / VM changes browser placement, not model location. Invalid-key errors do not silently switch discovery providers.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-box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gram-box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ucational-text"/>
          <p:cNvSpPr txBox="1"/>
          <p:nvPr/>
        </p:nvSpPr>
        <p:spPr>
          <a:xfrm>
            <a:off x="457200" y="254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0078D4"/>
                </a:solidFill>
                <a:latin typeface="Segoe UI Semibold"/>
              </a:defRPr>
            </a:pPr>
            <a:r>
              <a:t>05 / EVIDENCE LIFECYCLE AND ACCESS BOUNDARIES</a:t>
            </a:r>
          </a:p>
        </p:txBody>
      </p:sp>
      <p:sp>
        <p:nvSpPr>
          <p:cNvPr id="5" name="educational-text"/>
          <p:cNvSpPr txBox="1"/>
          <p:nvPr/>
        </p:nvSpPr>
        <p:spPr>
          <a:xfrm>
            <a:off x="457200" y="558800"/>
            <a:ext cx="112776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500">
                <a:solidFill>
                  <a:srgbClr val="0B1E3F"/>
                </a:solidFill>
                <a:latin typeface="Segoe UI Semibold"/>
              </a:defRPr>
            </a:pPr>
            <a:r>
              <a:t>Transient context is not the evidence archive</a:t>
            </a:r>
          </a:p>
        </p:txBody>
      </p:sp>
      <p:sp>
        <p:nvSpPr>
          <p:cNvPr id="6" name="educational-text"/>
          <p:cNvSpPr txBox="1"/>
          <p:nvPr/>
        </p:nvSpPr>
        <p:spPr>
          <a:xfrm>
            <a:off x="457200" y="1117600"/>
            <a:ext cx="112776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05E5C"/>
                </a:solidFill>
                <a:latin typeface="Segoe UI"/>
              </a:defRPr>
            </a:pPr>
            <a:r>
              <a:t>Retain the attributed work product and permitted independent observations, not the raw search/Browse response.</a:t>
            </a:r>
          </a:p>
        </p:txBody>
      </p:sp>
      <p:sp>
        <p:nvSpPr>
          <p:cNvPr id="7" name="educational-text"/>
          <p:cNvSpPr txBox="1"/>
          <p:nvPr/>
        </p:nvSpPr>
        <p:spPr>
          <a:xfrm>
            <a:off x="457200" y="6591300"/>
            <a:ext cx="96520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605E5C"/>
                </a:solidFill>
                <a:latin typeface="Segoe UI"/>
              </a:defRPr>
            </a:pPr>
            <a:r>
              <a:t>Solution concept | Current prototype | 21 October 2026</a:t>
            </a:r>
          </a:p>
        </p:txBody>
      </p:sp>
      <p:sp>
        <p:nvSpPr>
          <p:cNvPr id="8" name="educational-text"/>
          <p:cNvSpPr txBox="1"/>
          <p:nvPr/>
        </p:nvSpPr>
        <p:spPr>
          <a:xfrm>
            <a:off x="11176000" y="6565900"/>
            <a:ext cx="5588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900">
                <a:solidFill>
                  <a:srgbClr val="605E5C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9" name="educational-text">
            <a:hlinkClick r:id="rId2"/>
          </p:cNvPr>
          <p:cNvSpPr txBox="1"/>
          <p:nvPr/>
        </p:nvSpPr>
        <p:spPr>
          <a:xfrm>
            <a:off x="457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Blob identity</a:t>
            </a:r>
          </a:p>
        </p:txBody>
      </p:sp>
      <p:sp>
        <p:nvSpPr>
          <p:cNvPr id="10" name="educational-text">
            <a:hlinkClick r:id="rId3"/>
          </p:cNvPr>
          <p:cNvSpPr txBox="1"/>
          <p:nvPr/>
        </p:nvSpPr>
        <p:spPr>
          <a:xfrm>
            <a:off x="2743200" y="64135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00">
                <a:solidFill>
                  <a:srgbClr val="0078D4"/>
                </a:solidFill>
                <a:latin typeface="Segoe UI"/>
              </a:defRPr>
            </a:pPr>
            <a:r>
              <a:t>Azure icons</a:t>
            </a:r>
          </a:p>
        </p:txBody>
      </p:sp>
      <p:sp>
        <p:nvSpPr>
          <p:cNvPr id="11" name="responsibility-group"/>
          <p:cNvSpPr/>
          <p:nvPr/>
        </p:nvSpPr>
        <p:spPr>
          <a:xfrm>
            <a:off x="457200" y="1701800"/>
            <a:ext cx="3352800" cy="38862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0160">
            <a:solidFill>
              <a:srgbClr val="5C2D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ucational-text"/>
          <p:cNvSpPr txBox="1"/>
          <p:nvPr/>
        </p:nvSpPr>
        <p:spPr>
          <a:xfrm>
            <a:off x="571500" y="1778000"/>
            <a:ext cx="31242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30">
                <a:solidFill>
                  <a:srgbClr val="5C2D91"/>
                </a:solidFill>
                <a:latin typeface="Segoe UI Semibold"/>
              </a:defRPr>
            </a:pPr>
            <a:r>
              <a:t>ACTIVE WORKFLOW</a:t>
            </a:r>
          </a:p>
        </p:txBody>
      </p:sp>
      <p:sp>
        <p:nvSpPr>
          <p:cNvPr id="13" name="responsibility-group"/>
          <p:cNvSpPr/>
          <p:nvPr/>
        </p:nvSpPr>
        <p:spPr>
          <a:xfrm>
            <a:off x="4419600" y="1701800"/>
            <a:ext cx="3352800" cy="38862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0160">
            <a:solidFill>
              <a:srgbClr val="007A6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ucational-text"/>
          <p:cNvSpPr txBox="1"/>
          <p:nvPr/>
        </p:nvSpPr>
        <p:spPr>
          <a:xfrm>
            <a:off x="4533900" y="1778000"/>
            <a:ext cx="31242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30">
                <a:solidFill>
                  <a:srgbClr val="007A6E"/>
                </a:solidFill>
                <a:latin typeface="Segoe UI Semibold"/>
              </a:defRPr>
            </a:pPr>
            <a:r>
              <a:t>PERMITTED DURABLE EVIDENCE</a:t>
            </a:r>
          </a:p>
        </p:txBody>
      </p:sp>
      <p:sp>
        <p:nvSpPr>
          <p:cNvPr id="15" name="responsibility-group"/>
          <p:cNvSpPr/>
          <p:nvPr/>
        </p:nvSpPr>
        <p:spPr>
          <a:xfrm>
            <a:off x="8382000" y="1701800"/>
            <a:ext cx="3352800" cy="38862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0160">
            <a:solidFill>
              <a:srgbClr val="0078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ucational-text"/>
          <p:cNvSpPr txBox="1"/>
          <p:nvPr/>
        </p:nvSpPr>
        <p:spPr>
          <a:xfrm>
            <a:off x="8496300" y="1778000"/>
            <a:ext cx="31242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930">
                <a:solidFill>
                  <a:srgbClr val="0078D4"/>
                </a:solidFill>
                <a:latin typeface="Segoe UI Semibold"/>
              </a:defRPr>
            </a:pPr>
            <a:r>
              <a:t>FOLLOW-UP THROUGH THE APP</a:t>
            </a:r>
          </a:p>
        </p:txBody>
      </p:sp>
      <p:sp>
        <p:nvSpPr>
          <p:cNvPr id="17" name="concept-node"/>
          <p:cNvSpPr/>
          <p:nvPr/>
        </p:nvSpPr>
        <p:spPr>
          <a:xfrm>
            <a:off x="660400" y="2146300"/>
            <a:ext cx="29464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ucational-text"/>
          <p:cNvSpPr txBox="1"/>
          <p:nvPr/>
        </p:nvSpPr>
        <p:spPr>
          <a:xfrm>
            <a:off x="787400" y="2260600"/>
            <a:ext cx="2692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5C2D91"/>
                </a:solidFill>
                <a:latin typeface="Segoe UI Semibold"/>
              </a:defRPr>
            </a:pPr>
            <a:r>
              <a:t>Transient retrieval</a:t>
            </a:r>
          </a:p>
        </p:txBody>
      </p:sp>
      <p:sp>
        <p:nvSpPr>
          <p:cNvPr id="19" name="educational-text"/>
          <p:cNvSpPr txBox="1"/>
          <p:nvPr/>
        </p:nvSpPr>
        <p:spPr>
          <a:xfrm>
            <a:off x="787400" y="2667000"/>
            <a:ext cx="2692400" cy="622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Raw WebIQ/Search/Browse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Used in this workflow only</a:t>
            </a:r>
          </a:p>
        </p:txBody>
      </p:sp>
      <p:sp>
        <p:nvSpPr>
          <p:cNvPr id="20" name="educational-text"/>
          <p:cNvSpPr txBox="1"/>
          <p:nvPr/>
        </p:nvSpPr>
        <p:spPr>
          <a:xfrm>
            <a:off x="660400" y="3530600"/>
            <a:ext cx="2946400" cy="292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5C2D91"/>
                </a:solidFill>
                <a:latin typeface="Segoe UI Semibold"/>
              </a:defRPr>
            </a:pPr>
            <a:r>
              <a:t>Raw grounding is NOT archived.</a:t>
            </a:r>
          </a:p>
        </p:txBody>
      </p:sp>
      <p:sp>
        <p:nvSpPr>
          <p:cNvPr id="21" name="concept-node"/>
          <p:cNvSpPr/>
          <p:nvPr/>
        </p:nvSpPr>
        <p:spPr>
          <a:xfrm>
            <a:off x="660400" y="4013200"/>
            <a:ext cx="29464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ucational-text"/>
          <p:cNvSpPr txBox="1"/>
          <p:nvPr/>
        </p:nvSpPr>
        <p:spPr>
          <a:xfrm>
            <a:off x="787400" y="4127500"/>
            <a:ext cx="2692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Independent browser data</a:t>
            </a:r>
          </a:p>
        </p:txBody>
      </p:sp>
      <p:sp>
        <p:nvSpPr>
          <p:cNvPr id="23" name="educational-text"/>
          <p:cNvSpPr txBox="1"/>
          <p:nvPr/>
        </p:nvSpPr>
        <p:spPr>
          <a:xfrm>
            <a:off x="787400" y="4533900"/>
            <a:ext cx="2692400" cy="673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Observed text + access status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Original captured viewports</a:t>
            </a:r>
          </a:p>
        </p:txBody>
      </p:sp>
      <p:sp>
        <p:nvSpPr>
          <p:cNvPr id="24" name="concept-node"/>
          <p:cNvSpPr/>
          <p:nvPr/>
        </p:nvSpPr>
        <p:spPr>
          <a:xfrm>
            <a:off x="4622800" y="2146300"/>
            <a:ext cx="29464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ucational-text"/>
          <p:cNvSpPr txBox="1"/>
          <p:nvPr/>
        </p:nvSpPr>
        <p:spPr>
          <a:xfrm>
            <a:off x="4749800" y="2260600"/>
            <a:ext cx="2692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Generated internal work</a:t>
            </a:r>
          </a:p>
        </p:txBody>
      </p:sp>
      <p:sp>
        <p:nvSpPr>
          <p:cNvPr id="26" name="educational-text"/>
          <p:cNvSpPr txBox="1"/>
          <p:nvPr/>
        </p:nvSpPr>
        <p:spPr>
          <a:xfrm>
            <a:off x="4749800" y="2667000"/>
            <a:ext cx="2692400" cy="622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Attributed brief + claim checks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Explicit evidence gaps</a:t>
            </a:r>
          </a:p>
        </p:txBody>
      </p:sp>
      <p:sp>
        <p:nvSpPr>
          <p:cNvPr id="27" name="concept-node"/>
          <p:cNvSpPr/>
          <p:nvPr/>
        </p:nvSpPr>
        <p:spPr>
          <a:xfrm>
            <a:off x="4622800" y="4013200"/>
            <a:ext cx="29464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azure-icon-storage-account" descr="Official Microsoft icon: storage-accou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800" y="4140200"/>
            <a:ext cx="355600" cy="355600"/>
          </a:xfrm>
          <a:prstGeom prst="rect">
            <a:avLst/>
          </a:prstGeom>
        </p:spPr>
      </p:pic>
      <p:sp>
        <p:nvSpPr>
          <p:cNvPr id="29" name="educational-text"/>
          <p:cNvSpPr txBox="1"/>
          <p:nvPr/>
        </p:nvSpPr>
        <p:spPr>
          <a:xfrm>
            <a:off x="5207000" y="4127500"/>
            <a:ext cx="22352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A6E"/>
                </a:solidFill>
                <a:latin typeface="Segoe UI Semibold"/>
              </a:defRPr>
            </a:pPr>
            <a:r>
              <a:t>Azure Storage / Blob</a:t>
            </a:r>
          </a:p>
        </p:txBody>
      </p:sp>
      <p:sp>
        <p:nvSpPr>
          <p:cNvPr id="30" name="educational-text"/>
          <p:cNvSpPr txBox="1"/>
          <p:nvPr/>
        </p:nvSpPr>
        <p:spPr>
          <a:xfrm>
            <a:off x="4749800" y="4533900"/>
            <a:ext cx="2692400" cy="673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Report + observations + PNGs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Original hashes + timestamps</a:t>
            </a:r>
          </a:p>
        </p:txBody>
      </p:sp>
      <p:sp>
        <p:nvSpPr>
          <p:cNvPr id="31" name="concept-node"/>
          <p:cNvSpPr/>
          <p:nvPr/>
        </p:nvSpPr>
        <p:spPr>
          <a:xfrm>
            <a:off x="8585200" y="2146300"/>
            <a:ext cx="29464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ucational-text"/>
          <p:cNvSpPr txBox="1"/>
          <p:nvPr/>
        </p:nvSpPr>
        <p:spPr>
          <a:xfrm>
            <a:off x="8712200" y="2260600"/>
            <a:ext cx="2692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Saved research</a:t>
            </a:r>
          </a:p>
        </p:txBody>
      </p:sp>
      <p:sp>
        <p:nvSpPr>
          <p:cNvPr id="33" name="educational-text"/>
          <p:cNvSpPr txBox="1"/>
          <p:nvPr/>
        </p:nvSpPr>
        <p:spPr>
          <a:xfrm>
            <a:off x="8712200" y="2667000"/>
            <a:ext cx="2692400" cy="622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Passcode-gated follow-up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Shared internal-demo library</a:t>
            </a:r>
          </a:p>
        </p:txBody>
      </p:sp>
      <p:sp>
        <p:nvSpPr>
          <p:cNvPr id="34" name="concept-node"/>
          <p:cNvSpPr/>
          <p:nvPr/>
        </p:nvSpPr>
        <p:spPr>
          <a:xfrm>
            <a:off x="8585200" y="4013200"/>
            <a:ext cx="29464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ucational-text"/>
          <p:cNvSpPr txBox="1"/>
          <p:nvPr/>
        </p:nvSpPr>
        <p:spPr>
          <a:xfrm>
            <a:off x="8712200" y="4127500"/>
            <a:ext cx="26924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0078D4"/>
                </a:solidFill>
                <a:latin typeface="Segoe UI Semibold"/>
              </a:defRPr>
            </a:pPr>
            <a:r>
              <a:t>Download ZIP</a:t>
            </a:r>
          </a:p>
        </p:txBody>
      </p:sp>
      <p:sp>
        <p:nvSpPr>
          <p:cNvPr id="36" name="educational-text"/>
          <p:cNvSpPr txBox="1"/>
          <p:nvPr/>
        </p:nvSpPr>
        <p:spPr>
          <a:xfrm>
            <a:off x="8712200" y="4533900"/>
            <a:ext cx="2692400" cy="673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research.json + report.md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00">
                <a:solidFill>
                  <a:srgbClr val="201F1E"/>
                </a:solidFill>
                <a:latin typeface="Segoe UI"/>
              </a:defRPr>
            </a:pPr>
            <a:r>
              <a:t>Original PNG files when present</a:t>
            </a:r>
          </a:p>
        </p:txBody>
      </p:sp>
      <p:cxnSp>
        <p:nvCxnSpPr>
          <p:cNvPr id="37" name="concept-flow"/>
          <p:cNvCxnSpPr/>
          <p:nvPr/>
        </p:nvCxnSpPr>
        <p:spPr>
          <a:xfrm>
            <a:off x="3606800" y="2755900"/>
            <a:ext cx="1016000" cy="0"/>
          </a:xfrm>
          <a:prstGeom prst="line">
            <a:avLst/>
          </a:prstGeom>
          <a:ln w="21590">
            <a:solidFill>
              <a:srgbClr val="5C2D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ducational-text"/>
          <p:cNvSpPr txBox="1"/>
          <p:nvPr/>
        </p:nvSpPr>
        <p:spPr>
          <a:xfrm>
            <a:off x="3784600" y="2413000"/>
            <a:ext cx="736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880">
                <a:solidFill>
                  <a:srgbClr val="5C2D91"/>
                </a:solidFill>
                <a:latin typeface="Segoe UI"/>
              </a:defRPr>
            </a:pPr>
            <a:r>
              <a:t>Synthesize</a:t>
            </a:r>
          </a:p>
        </p:txBody>
      </p:sp>
      <p:cxnSp>
        <p:nvCxnSpPr>
          <p:cNvPr id="39" name="concept-flow"/>
          <p:cNvCxnSpPr/>
          <p:nvPr/>
        </p:nvCxnSpPr>
        <p:spPr>
          <a:xfrm>
            <a:off x="6096000" y="3365500"/>
            <a:ext cx="0" cy="647700"/>
          </a:xfrm>
          <a:prstGeom prst="line">
            <a:avLst/>
          </a:prstGeom>
          <a:ln w="21590">
            <a:solidFill>
              <a:srgbClr val="007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cept-flow"/>
          <p:cNvCxnSpPr/>
          <p:nvPr/>
        </p:nvCxnSpPr>
        <p:spPr>
          <a:xfrm>
            <a:off x="3606800" y="4648200"/>
            <a:ext cx="1016000" cy="0"/>
          </a:xfrm>
          <a:prstGeom prst="line">
            <a:avLst/>
          </a:prstGeom>
          <a:ln w="21590">
            <a:solidFill>
              <a:srgbClr val="007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cept-flow"/>
          <p:cNvCxnSpPr/>
          <p:nvPr/>
        </p:nvCxnSpPr>
        <p:spPr>
          <a:xfrm>
            <a:off x="7569200" y="4648200"/>
            <a:ext cx="558800" cy="0"/>
          </a:xfrm>
          <a:prstGeom prst="line">
            <a:avLst/>
          </a:prstGeom>
          <a:ln w="21590">
            <a:solidFill>
              <a:srgbClr val="007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cept-flow"/>
          <p:cNvCxnSpPr/>
          <p:nvPr/>
        </p:nvCxnSpPr>
        <p:spPr>
          <a:xfrm flipV="1">
            <a:off x="8128000" y="2755900"/>
            <a:ext cx="0" cy="1892300"/>
          </a:xfrm>
          <a:prstGeom prst="line">
            <a:avLst/>
          </a:prstGeom>
          <a:ln w="21590">
            <a:solidFill>
              <a:srgbClr val="007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cept-flow"/>
          <p:cNvCxnSpPr/>
          <p:nvPr/>
        </p:nvCxnSpPr>
        <p:spPr>
          <a:xfrm>
            <a:off x="8128000" y="2755900"/>
            <a:ext cx="457200" cy="0"/>
          </a:xfrm>
          <a:prstGeom prst="line">
            <a:avLst/>
          </a:prstGeom>
          <a:ln w="21590">
            <a:solidFill>
              <a:srgbClr val="007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cept-flow"/>
          <p:cNvCxnSpPr/>
          <p:nvPr/>
        </p:nvCxnSpPr>
        <p:spPr>
          <a:xfrm>
            <a:off x="10058400" y="3365500"/>
            <a:ext cx="0" cy="647700"/>
          </a:xfrm>
          <a:prstGeom prst="line">
            <a:avLst/>
          </a:prstGeom>
          <a:ln w="2159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ducational-text"/>
          <p:cNvSpPr txBox="1"/>
          <p:nvPr/>
        </p:nvSpPr>
        <p:spPr>
          <a:xfrm>
            <a:off x="457200" y="5651500"/>
            <a:ext cx="112776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70">
                <a:solidFill>
                  <a:srgbClr val="605E5C"/>
                </a:solidFill>
                <a:latin typeface="Segoe UI"/>
              </a:defRPr>
            </a:pPr>
            <a:r>
              <a:t>Until explicit deletion. Downloaded copies are outside archive deletion.</a:t>
            </a:r>
          </a:p>
        </p:txBody>
      </p:sp>
      <p:sp>
        <p:nvSpPr>
          <p:cNvPr id="46" name="diagram-box"/>
          <p:cNvSpPr/>
          <p:nvPr/>
        </p:nvSpPr>
        <p:spPr>
          <a:xfrm>
            <a:off x="457200" y="5930900"/>
            <a:ext cx="11277600" cy="4318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iagram-box"/>
          <p:cNvSpPr/>
          <p:nvPr/>
        </p:nvSpPr>
        <p:spPr>
          <a:xfrm>
            <a:off x="584200" y="59817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azure-icon-managed-identity" descr="Official Microsoft icon: managed-ident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" y="6019800"/>
            <a:ext cx="254000" cy="254000"/>
          </a:xfrm>
          <a:prstGeom prst="rect">
            <a:avLst/>
          </a:prstGeom>
        </p:spPr>
      </p:pic>
      <p:sp>
        <p:nvSpPr>
          <p:cNvPr id="49" name="educational-text"/>
          <p:cNvSpPr txBox="1"/>
          <p:nvPr/>
        </p:nvSpPr>
        <p:spPr>
          <a:xfrm>
            <a:off x="1041400" y="6032500"/>
            <a:ext cx="10528300" cy="292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Storage needs identity authorization AND a permitted network path. A shared passcode is not per-user isolation.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Due-Diligence Assistant - Solution concept</dc:title>
  <dc:subject>Editable architecture, agent workflow, request sequence, routing and evidence lifecycle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